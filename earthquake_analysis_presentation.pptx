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1" r:id="rId6"/>
    <p:sldId id="262" r:id="rId7"/>
    <p:sldId id="263" r:id="rId8"/>
    <p:sldId id="260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74"/>
  </p:normalViewPr>
  <p:slideViewPr>
    <p:cSldViewPr snapToGrid="0" snapToObjects="1">
      <p:cViewPr varScale="1">
        <p:scale>
          <a:sx n="103" d="100"/>
          <a:sy n="103" d="100"/>
        </p:scale>
        <p:origin x="648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1" y="852221"/>
            <a:ext cx="12627371" cy="128930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4000" b="1">
                <a:solidFill>
                  <a:srgbClr val="1F2530"/>
                </a:solidFill>
                <a:latin typeface="Arial"/>
              </a:rPr>
              <a:t>Анализ характеристик</a:t>
            </a:r>
            <a:r>
              <a:rPr lang="ru-RU" sz="4000" b="1">
                <a:solidFill>
                  <a:srgbClr val="1F2530"/>
                </a:solidFill>
                <a:latin typeface="Arial"/>
              </a:rPr>
              <a:t> </a:t>
            </a:r>
            <a:r>
              <a:rPr sz="4000" b="1">
                <a:solidFill>
                  <a:srgbClr val="1F2530"/>
                </a:solidFill>
                <a:latin typeface="Arial"/>
              </a:rPr>
              <a:t>землетрясений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1" y="2287829"/>
            <a:ext cx="7064111" cy="51937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b="0">
                <a:solidFill>
                  <a:srgbClr val="5C6574"/>
                </a:solidFill>
                <a:latin typeface="Arial"/>
              </a:rPr>
              <a:t>Магнитуда · глубина · время от предыдущего события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3044952"/>
            <a:ext cx="3931920" cy="20116"/>
          </a:xfrm>
          <a:prstGeom prst="rect">
            <a:avLst/>
          </a:prstGeom>
          <a:solidFill>
            <a:srgbClr val="DA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3364992"/>
            <a:ext cx="3840480" cy="3108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1F2530"/>
                </a:solidFill>
                <a:latin typeface="Arial"/>
              </a:rPr>
              <a:t>1  Функция распределения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22191"/>
            <a:ext cx="4572000" cy="3108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1F2530"/>
                </a:solidFill>
                <a:latin typeface="Arial"/>
              </a:rPr>
              <a:t>2  Корреляционная матрица и PCA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79392"/>
            <a:ext cx="3840480" cy="3108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1F2530"/>
                </a:solidFill>
                <a:latin typeface="Arial"/>
              </a:rPr>
              <a:t>3  Корреляционная функция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5955486"/>
            <a:ext cx="3153444" cy="3108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5C6574"/>
                </a:solidFill>
                <a:latin typeface="Arial"/>
              </a:rPr>
              <a:t>Королев Александр</a:t>
            </a:r>
            <a:r>
              <a:rPr lang="ru-RU" sz="1600" b="0">
                <a:solidFill>
                  <a:srgbClr val="5C6574"/>
                </a:solidFill>
                <a:latin typeface="Arial"/>
              </a:rPr>
              <a:t> Б05 - 409</a:t>
            </a:r>
            <a:endParaRPr sz="1600" b="0">
              <a:solidFill>
                <a:srgbClr val="5C6574"/>
              </a:solidFill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76072" y="6368794"/>
            <a:ext cx="3858768" cy="15544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8000"/>
              </a:lnSpc>
            </a:pPr>
            <a:r>
              <a:rPr lang="ru-RU" sz="1600" b="0">
                <a:solidFill>
                  <a:srgbClr val="5C6574"/>
                </a:solidFill>
                <a:latin typeface="Arial"/>
              </a:rPr>
              <a:t>Научный руководитель Орлов Ю.Н.</a:t>
            </a:r>
            <a:endParaRPr sz="1600" b="0">
              <a:solidFill>
                <a:srgbClr val="5C6574"/>
              </a:solidFill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3853160" y="201168"/>
            <a:ext cx="530352" cy="237744"/>
          </a:xfrm>
          <a:prstGeom prst="rect">
            <a:avLst/>
          </a:prstGeom>
          <a:noFill/>
        </p:spPr>
        <p:txBody>
          <a:bodyPr wrap="none" lIns="0" tIns="0" rIns="0" bIns="0">
            <a:normAutofit fontScale="92500" lnSpcReduction="10000"/>
          </a:bodyPr>
          <a:lstStyle/>
          <a:p>
            <a:pPr algn="r"/>
            <a:r>
              <a:t>01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05D3AB5C-736B-3712-A727-39E4320998A7}"/>
              </a:ext>
            </a:extLst>
          </p:cNvPr>
          <p:cNvSpPr/>
          <p:nvPr/>
        </p:nvSpPr>
        <p:spPr>
          <a:xfrm>
            <a:off x="576072" y="1814169"/>
            <a:ext cx="13807440" cy="16459"/>
          </a:xfrm>
          <a:prstGeom prst="rect">
            <a:avLst/>
          </a:prstGeom>
          <a:solidFill>
            <a:srgbClr val="DA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3657600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900" b="1">
                <a:solidFill>
                  <a:srgbClr val="5C636E"/>
                </a:solidFill>
                <a:latin typeface="Aptos"/>
              </a:defRPr>
            </a:pPr>
            <a:r>
              <a:rPr>
                <a:solidFill>
                  <a:srgbClr val="1A1F26"/>
                </a:solidFill>
                <a:latin typeface="Arial"/>
              </a:rPr>
              <a:t>ДАННЫЕ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6692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2500" b="1">
                <a:solidFill>
                  <a:srgbClr val="181B1F"/>
                </a:solidFill>
                <a:latin typeface="Aptos"/>
              </a:defRPr>
            </a:pPr>
            <a:r>
              <a:rPr>
                <a:solidFill>
                  <a:srgbClr val="1A1F26"/>
                </a:solidFill>
                <a:latin typeface="Arial"/>
              </a:rPr>
              <a:t>Данные и предобработка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3807440" cy="10972"/>
          </a:xfrm>
          <a:prstGeom prst="rect">
            <a:avLst/>
          </a:prstGeom>
          <a:solidFill>
            <a:srgbClr val="E4E7EB"/>
          </a:solidFill>
          <a:ln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0" y="7818120"/>
            <a:ext cx="420624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defRPr sz="800" b="0">
                <a:solidFill>
                  <a:srgbClr val="5C636E"/>
                </a:solidFill>
                <a:latin typeface="Aptos"/>
              </a:defRPr>
            </a:pPr>
            <a:r>
              <a:rPr>
                <a:solidFill>
                  <a:srgbClr val="1A1F26"/>
                </a:solidFill>
                <a:latin typeface="Arial"/>
              </a:rPr>
              <a:t>Анализ землетрясений · Королев Александр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399032"/>
            <a:ext cx="32004" cy="859536"/>
          </a:xfrm>
          <a:prstGeom prst="rect">
            <a:avLst/>
          </a:prstGeom>
          <a:solidFill>
            <a:srgbClr val="245CAC"/>
          </a:solidFill>
          <a:ln>
            <a:solidFill>
              <a:srgbClr val="245C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50976" y="1325880"/>
            <a:ext cx="2066543" cy="100584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defRPr sz="2400" b="1">
                <a:solidFill>
                  <a:srgbClr val="245CAC"/>
                </a:solidFill>
                <a:latin typeface="Aptos Display"/>
              </a:defRPr>
            </a:pPr>
            <a:r>
              <a:rPr>
                <a:solidFill>
                  <a:srgbClr val="1A1F26"/>
                </a:solidFill>
                <a:latin typeface="Arial"/>
              </a:rPr>
              <a:t>56 832</a:t>
            </a:r>
          </a:p>
          <a:p>
            <a:pPr algn="l">
              <a:defRPr sz="1050">
                <a:solidFill>
                  <a:srgbClr val="5C636E"/>
                </a:solidFill>
                <a:latin typeface="Aptos"/>
              </a:defRPr>
            </a:pPr>
            <a:r>
              <a:rPr>
                <a:solidFill>
                  <a:srgbClr val="1A1F26"/>
                </a:solidFill>
                <a:latin typeface="Arial"/>
              </a:rPr>
              <a:t>исходных события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399032"/>
            <a:ext cx="32004" cy="859536"/>
          </a:xfrm>
          <a:prstGeom prst="rect">
            <a:avLst/>
          </a:prstGeom>
          <a:solidFill>
            <a:srgbClr val="245CAC"/>
          </a:solidFill>
          <a:ln>
            <a:solidFill>
              <a:srgbClr val="245C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19856" y="1325880"/>
            <a:ext cx="2066543" cy="100584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defRPr sz="2400" b="1">
                <a:solidFill>
                  <a:srgbClr val="245CAC"/>
                </a:solidFill>
                <a:latin typeface="Aptos Display"/>
              </a:defRPr>
            </a:pPr>
            <a:r>
              <a:rPr>
                <a:solidFill>
                  <a:srgbClr val="1A1F26"/>
                </a:solidFill>
                <a:latin typeface="Arial"/>
              </a:rPr>
              <a:t>56 831</a:t>
            </a:r>
          </a:p>
          <a:p>
            <a:pPr algn="l">
              <a:defRPr sz="1050">
                <a:solidFill>
                  <a:srgbClr val="5C636E"/>
                </a:solidFill>
                <a:latin typeface="Aptos"/>
              </a:defRPr>
            </a:pPr>
            <a:r>
              <a:rPr>
                <a:solidFill>
                  <a:srgbClr val="1A1F26"/>
                </a:solidFill>
                <a:latin typeface="Arial"/>
              </a:rPr>
              <a:t>после исключения первого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1399032"/>
            <a:ext cx="32004" cy="859536"/>
          </a:xfrm>
          <a:prstGeom prst="rect">
            <a:avLst/>
          </a:prstGeom>
          <a:solidFill>
            <a:srgbClr val="C56421"/>
          </a:solidFill>
          <a:ln>
            <a:solidFill>
              <a:srgbClr val="C564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88736" y="1325880"/>
            <a:ext cx="2798064" cy="100584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defRPr sz="2400" b="1">
                <a:solidFill>
                  <a:srgbClr val="C56421"/>
                </a:solidFill>
                <a:latin typeface="Aptos Display"/>
              </a:defRPr>
            </a:pPr>
            <a:r>
              <a:rPr>
                <a:solidFill>
                  <a:srgbClr val="1A1F26"/>
                </a:solidFill>
                <a:latin typeface="Arial"/>
              </a:rPr>
              <a:t>0.5 / 5 / 5000</a:t>
            </a:r>
          </a:p>
          <a:p>
            <a:pPr algn="l">
              <a:defRPr sz="1050">
                <a:solidFill>
                  <a:srgbClr val="5C636E"/>
                </a:solidFill>
                <a:latin typeface="Cambria Math"/>
                <a:ea typeface="Cambria Math"/>
                <a:cs typeface="Cambria Math"/>
              </a:defRPr>
            </a:pPr>
            <a:r>
              <a:rPr>
                <a:solidFill>
                  <a:srgbClr val="1A1F26"/>
                </a:solidFill>
                <a:latin typeface="Cambria Math"/>
                <a:ea typeface="Cambria Math"/>
                <a:cs typeface="Cambria Math"/>
              </a:rPr>
              <a:t>шаги сетки M, D, ΔT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0" y="1399032"/>
            <a:ext cx="32004" cy="859536"/>
          </a:xfrm>
          <a:prstGeom prst="rect">
            <a:avLst/>
          </a:prstGeom>
          <a:solidFill>
            <a:srgbClr val="2D805A"/>
          </a:solidFill>
          <a:ln>
            <a:solidFill>
              <a:srgbClr val="2D8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89136" y="1325880"/>
            <a:ext cx="2523744" cy="100584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defRPr sz="2400" b="1">
                <a:solidFill>
                  <a:srgbClr val="2D805A"/>
                </a:solidFill>
                <a:latin typeface="Aptos Display"/>
              </a:defRPr>
            </a:pPr>
            <a:r>
              <a:rPr>
                <a:solidFill>
                  <a:srgbClr val="1A1F26"/>
                </a:solidFill>
                <a:latin typeface="Arial"/>
              </a:rPr>
              <a:t>28 415 / 28 416</a:t>
            </a:r>
          </a:p>
          <a:p>
            <a:pPr algn="l">
              <a:defRPr sz="1050">
                <a:solidFill>
                  <a:srgbClr val="5C636E"/>
                </a:solidFill>
                <a:latin typeface="Aptos"/>
              </a:defRPr>
            </a:pPr>
            <a:r>
              <a:rPr>
                <a:solidFill>
                  <a:srgbClr val="1A1F26"/>
                </a:solidFill>
                <a:latin typeface="Arial"/>
              </a:rPr>
              <a:t>размеры половин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887200" y="1399032"/>
            <a:ext cx="32004" cy="859536"/>
          </a:xfrm>
          <a:prstGeom prst="rect">
            <a:avLst/>
          </a:prstGeom>
          <a:solidFill>
            <a:srgbClr val="2D805A"/>
          </a:solidFill>
          <a:ln>
            <a:solidFill>
              <a:srgbClr val="2D8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015216" y="1325880"/>
            <a:ext cx="1975103" cy="100584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defRPr sz="2400" b="1">
                <a:solidFill>
                  <a:srgbClr val="2D805A"/>
                </a:solidFill>
                <a:latin typeface="Aptos Display"/>
              </a:defRPr>
            </a:pPr>
            <a:r>
              <a:rPr>
                <a:solidFill>
                  <a:srgbClr val="1A1F26"/>
                </a:solidFill>
                <a:latin typeface="Arial"/>
              </a:rPr>
              <a:t>10–15 км</a:t>
            </a:r>
          </a:p>
          <a:p>
            <a:pPr algn="l">
              <a:defRPr sz="1050">
                <a:solidFill>
                  <a:srgbClr val="5C636E"/>
                </a:solidFill>
                <a:latin typeface="Aptos"/>
              </a:defRPr>
            </a:pPr>
            <a:r>
              <a:rPr>
                <a:solidFill>
                  <a:srgbClr val="1A1F26"/>
                </a:solidFill>
                <a:latin typeface="Arial"/>
              </a:rPr>
              <a:t>самый частый слой глубины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2862072"/>
            <a:ext cx="32004" cy="512063"/>
          </a:xfrm>
          <a:prstGeom prst="rect">
            <a:avLst/>
          </a:prstGeom>
          <a:solidFill>
            <a:srgbClr val="245CAC"/>
          </a:solidFill>
          <a:ln>
            <a:solidFill>
              <a:srgbClr val="245C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24128" y="2788920"/>
            <a:ext cx="7388352" cy="658368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l">
              <a:defRPr sz="2200">
                <a:solidFill>
                  <a:srgbClr val="181B1F"/>
                </a:solidFill>
                <a:latin typeface="Cambria Math"/>
                <a:ea typeface="Cambria Math"/>
                <a:cs typeface="Cambria Math"/>
              </a:defRPr>
            </a:pPr>
            <a:r>
              <a:rPr>
                <a:solidFill>
                  <a:srgbClr val="1A1F26"/>
                </a:solidFill>
                <a:latin typeface="Cambria Math"/>
                <a:ea typeface="Cambria Math"/>
                <a:cs typeface="Cambria Math"/>
              </a:rPr>
              <a:t>time₁ ≤ time₂ ≤ … ≤ timeₙ,     ΔTᵢ = timeᵢ − timeᵢ₋₁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703320"/>
            <a:ext cx="7040880" cy="18288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181B1F"/>
                </a:solidFill>
                <a:latin typeface="Aptos"/>
              </a:defRPr>
            </a:pPr>
            <a:r>
              <a:rPr>
                <a:solidFill>
                  <a:srgbClr val="1A1F26"/>
                </a:solidFill>
                <a:latin typeface="Arial"/>
              </a:rPr>
              <a:t>События сначала отсортированы по времени: иначе “предыдущее событие” не имеет физического смысла.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181B1F"/>
                </a:solidFill>
                <a:latin typeface="Cambria Math"/>
                <a:ea typeface="Cambria Math"/>
                <a:cs typeface="Cambria Math"/>
              </a:defRPr>
            </a:pPr>
            <a:r>
              <a:rPr>
                <a:solidFill>
                  <a:srgbClr val="1A1F26"/>
                </a:solidFill>
                <a:latin typeface="Cambria Math"/>
                <a:ea typeface="Cambria Math"/>
                <a:cs typeface="Cambria Math"/>
              </a:rPr>
              <a:t>Первое событие исключено, потому что для него ΔT не определено.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181B1F"/>
                </a:solidFill>
                <a:latin typeface="Cambria Math"/>
                <a:ea typeface="Cambria Math"/>
                <a:cs typeface="Cambria Math"/>
              </a:defRPr>
            </a:pPr>
            <a:r>
              <a:rPr>
                <a:solidFill>
                  <a:srgbClr val="1A1F26"/>
                </a:solidFill>
                <a:latin typeface="Cambria Math"/>
                <a:ea typeface="Cambria Math"/>
                <a:cs typeface="Cambria Math"/>
              </a:rPr>
              <a:t>По ΔT есть длинный хвост, поэтому на части графиков показана увеличенная информативная область.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35440" y="2953512"/>
            <a:ext cx="32004" cy="493775"/>
          </a:xfrm>
          <a:prstGeom prst="rect">
            <a:avLst/>
          </a:prstGeom>
          <a:solidFill>
            <a:srgbClr val="245CAC"/>
          </a:solidFill>
          <a:ln>
            <a:solidFill>
              <a:srgbClr val="245C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45167" y="2880360"/>
            <a:ext cx="3547872" cy="640080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l">
              <a:defRPr sz="2600">
                <a:solidFill>
                  <a:srgbClr val="181B1F"/>
                </a:solidFill>
                <a:latin typeface="Cambria Math"/>
                <a:ea typeface="Cambria Math"/>
                <a:cs typeface="Cambria Math"/>
              </a:defRPr>
            </a:pPr>
            <a:r>
              <a:rPr>
                <a:solidFill>
                  <a:srgbClr val="1A1F26"/>
                </a:solidFill>
                <a:latin typeface="Cambria Math"/>
                <a:ea typeface="Cambria Math"/>
                <a:cs typeface="Cambria Math"/>
              </a:rPr>
              <a:t>Xᵢ = (Mᵢ, Dᵢ, ΔTᵢ)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3794760"/>
            <a:ext cx="384048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800" b="0">
                <a:solidFill>
                  <a:srgbClr val="181B1F"/>
                </a:solidFill>
                <a:latin typeface="Aptos"/>
              </a:defRPr>
            </a:pPr>
            <a:r>
              <a:rPr>
                <a:solidFill>
                  <a:srgbClr val="1A1F26"/>
                </a:solidFill>
                <a:latin typeface="Arial"/>
              </a:rPr>
              <a:t>Далее все функции распределения и гистограммы строятся по этой тройке параметров.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49474" y="201168"/>
            <a:ext cx="234038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t>0</a:t>
            </a:r>
            <a:r>
              <a:rPr lang="en-US"/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45720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5C6574"/>
                </a:solidFill>
                <a:latin typeface="Arial"/>
              </a:rPr>
              <a:t>ПЛАН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9875520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8000"/>
              </a:lnSpc>
            </a:pPr>
            <a:r>
              <a:rPr sz="2800" b="1">
                <a:solidFill>
                  <a:srgbClr val="1F2530"/>
                </a:solidFill>
                <a:latin typeface="Arial"/>
              </a:rPr>
              <a:t>Логика работы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51560"/>
            <a:ext cx="13807440" cy="16459"/>
          </a:xfrm>
          <a:prstGeom prst="rect">
            <a:avLst/>
          </a:prstGeom>
          <a:solidFill>
            <a:srgbClr val="DA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" name="TextBox 4"/>
          <p:cNvSpPr txBox="1"/>
          <p:nvPr/>
        </p:nvSpPr>
        <p:spPr>
          <a:xfrm>
            <a:off x="11384280" y="7863840"/>
            <a:ext cx="2734056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ct val="108000"/>
              </a:lnSpc>
            </a:pPr>
            <a:r>
              <a:rPr sz="900" b="0">
                <a:solidFill>
                  <a:srgbClr val="5C6574"/>
                </a:solidFill>
                <a:latin typeface="Arial"/>
              </a:rPr>
              <a:t>Анализ землетрясений · Королев Александр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53160" y="201168"/>
            <a:ext cx="530352" cy="23774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r>
              <a:t>0</a:t>
            </a:r>
            <a:r>
              <a:rPr lang="en-US"/>
              <a:t>3</a:t>
            </a: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36576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8000"/>
              </a:lnSpc>
            </a:pPr>
            <a:r>
              <a:rPr sz="2000" b="1">
                <a:solidFill>
                  <a:srgbClr val="265296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93392"/>
            <a:ext cx="306324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8000"/>
              </a:lnSpc>
            </a:pPr>
            <a:r>
              <a:rPr b="1">
                <a:solidFill>
                  <a:srgbClr val="1F2530"/>
                </a:solidFill>
                <a:latin typeface="Arial"/>
              </a:rPr>
              <a:t>Функция распределения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24575"/>
            <a:ext cx="2743200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defRPr>
                <a:latin typeface="Cambria Math"/>
                <a:ea typeface="Cambria Math"/>
                <a:cs typeface="Cambria Math"/>
              </a:defRPr>
            </a:pPr>
            <a:r>
              <a:rPr sz="1400" b="0">
                <a:solidFill>
                  <a:srgbClr val="5C6574"/>
                </a:solidFill>
                <a:latin typeface="Cambria Math"/>
                <a:ea typeface="Cambria Math"/>
                <a:cs typeface="Cambria Math"/>
              </a:rPr>
              <a:t>Строим F(M,D,ΔT), сравниваем первую и вторую половины через C-норму.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1554480"/>
            <a:ext cx="36576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8000"/>
              </a:lnSpc>
            </a:pPr>
            <a:r>
              <a:rPr sz="2000" b="1">
                <a:solidFill>
                  <a:srgbClr val="265296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1993392"/>
            <a:ext cx="274320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8000"/>
              </a:lnSpc>
            </a:pPr>
            <a:r>
              <a:rPr b="1">
                <a:solidFill>
                  <a:srgbClr val="1F2530"/>
                </a:solidFill>
                <a:latin typeface="Arial"/>
              </a:rPr>
              <a:t>Корреляционная матрица и PCA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2679192"/>
            <a:ext cx="2743200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defRPr>
                <a:latin typeface="Cambria Math"/>
                <a:ea typeface="Cambria Math"/>
                <a:cs typeface="Cambria Math"/>
              </a:defRPr>
            </a:pPr>
            <a:r>
              <a:rPr sz="1400" b="0">
                <a:solidFill>
                  <a:srgbClr val="5C6574"/>
                </a:solidFill>
                <a:latin typeface="Cambria Math"/>
                <a:ea typeface="Cambria Math"/>
                <a:cs typeface="Cambria Math"/>
              </a:rPr>
              <a:t>Проверяем линейные связи между M, D и ΔT через R и собственные значения.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1554480"/>
            <a:ext cx="36576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8000"/>
              </a:lnSpc>
            </a:pPr>
            <a:r>
              <a:rPr sz="2000" b="1">
                <a:solidFill>
                  <a:srgbClr val="265296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1993392"/>
            <a:ext cx="274320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8000"/>
              </a:lnSpc>
            </a:pPr>
            <a:r>
              <a:rPr b="1">
                <a:solidFill>
                  <a:srgbClr val="1F2530"/>
                </a:solidFill>
                <a:latin typeface="Arial"/>
              </a:rPr>
              <a:t>Корреляционная функция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2679192"/>
            <a:ext cx="2743200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defRPr>
                <a:latin typeface="Cambria Math"/>
                <a:ea typeface="Cambria Math"/>
                <a:cs typeface="Cambria Math"/>
              </a:defRPr>
            </a:pPr>
            <a:r>
              <a:rPr sz="1400" b="0">
                <a:solidFill>
                  <a:srgbClr val="5C6574"/>
                </a:solidFill>
                <a:latin typeface="Cambria Math"/>
                <a:ea typeface="Cambria Math"/>
                <a:cs typeface="Cambria Math"/>
              </a:rPr>
              <a:t>Сравниваем f(M,ΔT) с моделью независимости g(M)h(ΔT).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4160520"/>
            <a:ext cx="10789920" cy="18288"/>
          </a:xfrm>
          <a:prstGeom prst="rect">
            <a:avLst/>
          </a:prstGeom>
          <a:solidFill>
            <a:srgbClr val="DA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7" name="TextBox 16"/>
          <p:cNvSpPr txBox="1"/>
          <p:nvPr/>
        </p:nvSpPr>
        <p:spPr>
          <a:xfrm>
            <a:off x="594360" y="4434840"/>
            <a:ext cx="27432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8000"/>
              </a:lnSpc>
            </a:pPr>
            <a:r>
              <a:rPr b="1">
                <a:solidFill>
                  <a:srgbClr val="1F2530"/>
                </a:solidFill>
                <a:latin typeface="Arial"/>
              </a:rPr>
              <a:t>Общий принцип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919472"/>
            <a:ext cx="987552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F2530"/>
                </a:solidFill>
                <a:latin typeface="Arial"/>
              </a:rPr>
              <a:t>Сначала сравниваем распределения целиком, затем проверяем линейные связи и локальную независимость между параметрами.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45720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850" b="1">
                <a:solidFill>
                  <a:srgbClr val="5C6574"/>
                </a:solidFill>
                <a:latin typeface="Arial"/>
              </a:rPr>
              <a:t>1 / ФУНКЦИЯ РАСПРЕДЕЛЕНИЯ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9875520" cy="438912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algn="l">
              <a:lnSpc>
                <a:spcPct val="108000"/>
              </a:lnSpc>
              <a:defRPr>
                <a:latin typeface="Cambria Math"/>
                <a:ea typeface="Cambria Math"/>
                <a:cs typeface="Cambria Math"/>
              </a:defRPr>
            </a:pPr>
            <a:r>
              <a:rPr sz="2500" b="1">
                <a:solidFill>
                  <a:srgbClr val="1F2530"/>
                </a:solidFill>
                <a:latin typeface="Arial" panose="020B0604020202020204" pitchFamily="34" charset="0"/>
                <a:ea typeface="Cambria Math"/>
                <a:cs typeface="Arial" panose="020B0604020202020204" pitchFamily="34" charset="0"/>
              </a:rPr>
              <a:t>Как строилась </a:t>
            </a:r>
            <a:r>
              <a:rPr sz="2500" b="1">
                <a:solidFill>
                  <a:srgbClr val="1F2530"/>
                </a:solidFill>
                <a:latin typeface="Cambria Math"/>
                <a:ea typeface="Cambria Math"/>
                <a:cs typeface="Cambria Math"/>
              </a:rPr>
              <a:t>F(M,D,ΔT)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51560"/>
            <a:ext cx="13807440" cy="16459"/>
          </a:xfrm>
          <a:prstGeom prst="rect">
            <a:avLst/>
          </a:prstGeom>
          <a:solidFill>
            <a:srgbClr val="DA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814789" y="7802056"/>
            <a:ext cx="2404131" cy="13167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ct val="108000"/>
              </a:lnSpc>
            </a:pPr>
            <a:r>
              <a:rPr sz="800" b="0">
                <a:solidFill>
                  <a:srgbClr val="5C6574"/>
                </a:solidFill>
                <a:latin typeface="Arial"/>
              </a:rPr>
              <a:t>Анализ землетрясений · Королев Александр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53160" y="201168"/>
            <a:ext cx="530352" cy="237744"/>
          </a:xfrm>
          <a:prstGeom prst="rect">
            <a:avLst/>
          </a:prstGeom>
          <a:noFill/>
        </p:spPr>
        <p:txBody>
          <a:bodyPr wrap="none" lIns="0" tIns="0" rIns="0" bIns="0">
            <a:normAutofit fontScale="92500" lnSpcReduction="10000"/>
          </a:bodyPr>
          <a:lstStyle/>
          <a:p>
            <a:pPr algn="r"/>
            <a: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572768"/>
            <a:ext cx="32004" cy="502920"/>
          </a:xfrm>
          <a:prstGeom prst="rect">
            <a:avLst/>
          </a:prstGeom>
          <a:solidFill>
            <a:srgbClr val="265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536192"/>
            <a:ext cx="5669280" cy="411480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algn="l">
              <a:lnSpc>
                <a:spcPct val="108000"/>
              </a:lnSpc>
              <a:defRPr>
                <a:latin typeface="Cambria Math"/>
                <a:ea typeface="Cambria Math"/>
                <a:cs typeface="Cambria Math"/>
              </a:defRPr>
            </a:pPr>
            <a:r>
              <a:rPr sz="2300" b="0">
                <a:solidFill>
                  <a:srgbClr val="1F2530"/>
                </a:solidFill>
                <a:latin typeface="Cambria Math"/>
                <a:ea typeface="Cambria Math"/>
                <a:cs typeface="Cambria Math"/>
              </a:rPr>
              <a:t>F(m,d,t) = P(M≤m, D≤d, ΔT≤t)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3200400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8000"/>
              </a:lnSpc>
              <a:defRPr>
                <a:latin typeface="Cambria Math"/>
                <a:ea typeface="Cambria Math"/>
                <a:cs typeface="Cambria Math"/>
              </a:defRPr>
            </a:pPr>
            <a:r>
              <a:rPr sz="2400" b="0">
                <a:solidFill>
                  <a:srgbClr val="1F2530"/>
                </a:solidFill>
                <a:latin typeface="Cambria Math"/>
                <a:ea typeface="Cambria Math"/>
                <a:cs typeface="Cambria Math"/>
              </a:rPr>
              <a:t>Pᵢⱼₖ = Nᵢⱼₖ / 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71800"/>
            <a:ext cx="5303520" cy="3474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8000"/>
              </a:lnSpc>
              <a:defRPr>
                <a:latin typeface="Cambria Math"/>
                <a:ea typeface="Cambria Math"/>
                <a:cs typeface="Cambria Math"/>
              </a:defRPr>
            </a:pPr>
            <a:r>
              <a:rPr sz="2400" b="0">
                <a:solidFill>
                  <a:srgbClr val="1F2530"/>
                </a:solidFill>
                <a:latin typeface="Cambria Math"/>
                <a:ea typeface="Cambria Math"/>
                <a:cs typeface="Cambria Math"/>
              </a:rPr>
              <a:t>Fᵢⱼₖ = Σ₍ₐ≤ᵢ, b≤ⱼ, c≤ₖ₎ Pₐbc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703320"/>
            <a:ext cx="5303520" cy="105156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 algn="l">
              <a:lnSpc>
                <a:spcPct val="120000"/>
              </a:lnSpc>
              <a:defRPr>
                <a:latin typeface="Cambria Math"/>
                <a:ea typeface="Cambria Math"/>
                <a:cs typeface="Cambria Math"/>
              </a:defRPr>
            </a:pPr>
            <a:r>
              <a:rPr sz="1600" b="0">
                <a:solidFill>
                  <a:srgbClr val="5C6574"/>
                </a:solidFill>
                <a:latin typeface="Cambria Math"/>
                <a:ea typeface="Cambria Math"/>
                <a:cs typeface="Cambria Math"/>
              </a:rPr>
              <a:t>Nᵢⱼₖ — число событий в ячейке сетки по M, D и ΔT.
Pᵢⱼₖ — нормированная трёхмерная гистограмма.
Fᵢⱼₖ — накопленная вероятность до выбранных порогов.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1627632"/>
            <a:ext cx="3840480" cy="32004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1F2530"/>
                </a:solidFill>
                <a:latin typeface="Arial"/>
              </a:rPr>
              <a:t>Деление данных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2057400"/>
            <a:ext cx="4023360" cy="32004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5C6574"/>
                </a:solidFill>
                <a:latin typeface="Arial"/>
              </a:rPr>
              <a:t>Датасет делится ровно пополам по числу событий.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12280" y="2624328"/>
            <a:ext cx="32004" cy="512064"/>
          </a:xfrm>
          <a:prstGeom prst="rect">
            <a:avLst/>
          </a:prstGeom>
          <a:solidFill>
            <a:srgbClr val="265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922008" y="2606040"/>
            <a:ext cx="1554480" cy="228600"/>
          </a:xfrm>
          <a:prstGeom prst="rect">
            <a:avLst/>
          </a:prstGeom>
          <a:noFill/>
        </p:spPr>
        <p:txBody>
          <a:bodyPr wrap="square">
            <a:normAutofit fontScale="55000" lnSpcReduction="20000"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265296"/>
                </a:solidFill>
                <a:latin typeface="Arial"/>
              </a:rPr>
              <a:t>28 415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22008" y="2898648"/>
            <a:ext cx="21031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5C6574"/>
                </a:solidFill>
                <a:latin typeface="Arial"/>
              </a:rPr>
              <a:t>первая половина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32520" y="2624328"/>
            <a:ext cx="32004" cy="512064"/>
          </a:xfrm>
          <a:prstGeom prst="rect">
            <a:avLst/>
          </a:prstGeom>
          <a:solidFill>
            <a:srgbClr val="307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42248" y="2606040"/>
            <a:ext cx="1554480" cy="228600"/>
          </a:xfrm>
          <a:prstGeom prst="rect">
            <a:avLst/>
          </a:prstGeom>
          <a:noFill/>
        </p:spPr>
        <p:txBody>
          <a:bodyPr wrap="square">
            <a:normAutofit fontScale="55000" lnSpcReduction="20000"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307557"/>
                </a:solidFill>
                <a:latin typeface="Arial"/>
              </a:rPr>
              <a:t>28 416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2248" y="2898648"/>
            <a:ext cx="21031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5C6574"/>
                </a:solidFill>
                <a:latin typeface="Arial"/>
              </a:rPr>
              <a:t>вторая половина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3657600"/>
            <a:ext cx="468457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defRPr>
                <a:latin typeface="Cambria Math"/>
                <a:ea typeface="Cambria Math"/>
                <a:cs typeface="Cambria Math"/>
              </a:defRPr>
            </a:pPr>
            <a:r>
              <a:rPr sz="1600" b="0">
                <a:solidFill>
                  <a:srgbClr val="1F2530"/>
                </a:solidFill>
                <a:latin typeface="Cambria Math"/>
                <a:ea typeface="Cambria Math"/>
                <a:cs typeface="Cambria Math"/>
              </a:rPr>
              <a:t>Дальше для каждой половины строятся F₁ и F₂ на одной и той же сетке.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4434840"/>
            <a:ext cx="434340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defRPr>
                <a:latin typeface="Cambria Math"/>
                <a:ea typeface="Cambria Math"/>
                <a:cs typeface="Cambria Math"/>
              </a:defRPr>
            </a:pPr>
            <a:r>
              <a:rPr sz="1600" b="0">
                <a:solidFill>
                  <a:srgbClr val="1F2530"/>
                </a:solidFill>
                <a:latin typeface="Cambria Math"/>
                <a:ea typeface="Cambria Math"/>
                <a:cs typeface="Cambria Math"/>
              </a:rPr>
              <a:t>Их различие ищется по всем трём порогам одновременно: M, D и ΔT.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5349240"/>
            <a:ext cx="434340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C6574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Затем во 2-й части отдельно проверяются линейные связи: корреляционная матрица и PCA.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3657600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900" b="1">
                <a:solidFill>
                  <a:srgbClr val="5C636E"/>
                </a:solidFill>
                <a:latin typeface="Aptos"/>
              </a:defRPr>
            </a:pPr>
            <a:r>
              <a:rPr>
                <a:solidFill>
                  <a:srgbClr val="1A1F26"/>
                </a:solidFill>
                <a:latin typeface="Arial"/>
              </a:rPr>
              <a:t>1 / ГРАФИКИ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6692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2500" b="1">
                <a:solidFill>
                  <a:srgbClr val="181B1F"/>
                </a:solidFill>
                <a:latin typeface="Aptos"/>
              </a:defRPr>
            </a:pPr>
            <a:r>
              <a:rPr>
                <a:solidFill>
                  <a:srgbClr val="1A1F26"/>
                </a:solidFill>
                <a:latin typeface="Arial"/>
              </a:rPr>
              <a:t>Одномерные проекции: увеличенная информативная область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3807440" cy="10972"/>
          </a:xfrm>
          <a:prstGeom prst="rect">
            <a:avLst/>
          </a:prstGeom>
          <a:solidFill>
            <a:srgbClr val="E4E7EB"/>
          </a:solidFill>
          <a:ln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0" y="7818120"/>
            <a:ext cx="420624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defRPr sz="800" b="0">
                <a:solidFill>
                  <a:srgbClr val="5C636E"/>
                </a:solidFill>
                <a:latin typeface="Aptos"/>
              </a:defRPr>
            </a:pPr>
            <a:r>
              <a:rPr>
                <a:solidFill>
                  <a:srgbClr val="1A1F26"/>
                </a:solidFill>
                <a:latin typeface="Arial"/>
              </a:rPr>
              <a:t>Анализ землетрясений · Королев Александр</a:t>
            </a:r>
          </a:p>
        </p:txBody>
      </p:sp>
      <p:pic>
        <p:nvPicPr>
          <p:cNvPr id="7" name="Picture 6" descr="ecdf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59542"/>
            <a:ext cx="13441680" cy="410467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6172200"/>
            <a:ext cx="12801600" cy="7772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600" b="0">
                <a:solidFill>
                  <a:srgbClr val="181B1F"/>
                </a:solidFill>
                <a:latin typeface="Cambria Math"/>
                <a:ea typeface="Cambria Math"/>
                <a:cs typeface="Cambria Math"/>
              </a:defRPr>
            </a:pPr>
            <a:r>
              <a:rPr>
                <a:solidFill>
                  <a:srgbClr val="1A1F26"/>
                </a:solidFill>
                <a:latin typeface="Cambria Math"/>
                <a:ea typeface="Cambria Math"/>
                <a:cs typeface="Cambria Math"/>
              </a:rPr>
              <a:t>На графиках оси специально ограничены: M∈[4,6], D∈[0,200] км, ΔT≤100 000 с. Значения F при этом считаются по полной выборке, а не перенормируются по обрезанному диапазону.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53160" y="201168"/>
            <a:ext cx="530352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3657600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900" b="1">
                <a:solidFill>
                  <a:srgbClr val="5C636E"/>
                </a:solidFill>
                <a:latin typeface="Aptos"/>
              </a:defRPr>
            </a:pPr>
            <a:r>
              <a:rPr>
                <a:solidFill>
                  <a:srgbClr val="1A1F26"/>
                </a:solidFill>
                <a:latin typeface="Arial"/>
              </a:rPr>
              <a:t>1 / ГРАФИКИ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42165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2500" b="1">
                <a:solidFill>
                  <a:srgbClr val="181B1F"/>
                </a:solidFill>
                <a:latin typeface="Cambria Math"/>
                <a:ea typeface="Cambria Math"/>
                <a:cs typeface="Cambria Math"/>
              </a:defRPr>
            </a:pPr>
            <a:r>
              <a:rPr>
                <a:solidFill>
                  <a:srgbClr val="1A1F26"/>
                </a:solidFill>
                <a:latin typeface="Arial" panose="020B0604020202020204" pitchFamily="34" charset="0"/>
                <a:ea typeface="Cambria Math"/>
                <a:cs typeface="Arial" panose="020B0604020202020204" pitchFamily="34" charset="0"/>
              </a:rPr>
              <a:t>Разность одномерных проекций </a:t>
            </a:r>
            <a:r>
              <a:rPr>
                <a:solidFill>
                  <a:srgbClr val="1A1F26"/>
                </a:solidFill>
                <a:latin typeface="Cambria Math"/>
                <a:ea typeface="Cambria Math"/>
                <a:cs typeface="Cambria Math"/>
              </a:rPr>
              <a:t>F₂−F₁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3807440" cy="10972"/>
          </a:xfrm>
          <a:prstGeom prst="rect">
            <a:avLst/>
          </a:prstGeom>
          <a:solidFill>
            <a:srgbClr val="E4E7EB"/>
          </a:solidFill>
          <a:ln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0" y="7818120"/>
            <a:ext cx="420624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defRPr sz="800" b="0">
                <a:solidFill>
                  <a:srgbClr val="5C636E"/>
                </a:solidFill>
                <a:latin typeface="Aptos"/>
              </a:defRPr>
            </a:pPr>
            <a:r>
              <a:rPr>
                <a:solidFill>
                  <a:srgbClr val="1A1F26"/>
                </a:solidFill>
                <a:latin typeface="Arial"/>
              </a:rPr>
              <a:t>Анализ землетрясений · Королев Александр</a:t>
            </a:r>
          </a:p>
        </p:txBody>
      </p:sp>
      <p:pic>
        <p:nvPicPr>
          <p:cNvPr id="7" name="Picture 6" descr="ecdf_di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59542"/>
            <a:ext cx="13441680" cy="410467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6172200"/>
            <a:ext cx="12984480" cy="11430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81B1F"/>
                </a:solidFill>
                <a:latin typeface="Aptos"/>
              </a:defRPr>
            </a:pPr>
            <a:r>
              <a:rPr>
                <a:solidFill>
                  <a:srgbClr val="1A1F26"/>
                </a:solidFill>
                <a:latin typeface="Arial"/>
              </a:rPr>
              <a:t>Положительное значение означает: во второй половине доля событий ниже данного порога больше.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81B1F"/>
                </a:solidFill>
                <a:latin typeface="Cambria Math"/>
                <a:ea typeface="Cambria Math"/>
                <a:cs typeface="Cambria Math"/>
              </a:defRPr>
            </a:pPr>
            <a:r>
              <a:rPr>
                <a:solidFill>
                  <a:srgbClr val="1A1F26"/>
                </a:solidFill>
                <a:latin typeface="Cambria Math"/>
                <a:ea typeface="Cambria Math"/>
                <a:cs typeface="Cambria Math"/>
              </a:rPr>
              <a:t>По глубине и ΔT разность заметнее, чем по магнитуде.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81B1F"/>
                </a:solidFill>
                <a:latin typeface="Cambria Math"/>
                <a:ea typeface="Cambria Math"/>
                <a:cs typeface="Cambria Math"/>
              </a:defRPr>
            </a:pPr>
            <a:r>
              <a:rPr>
                <a:solidFill>
                  <a:srgbClr val="1A1F26"/>
                </a:solidFill>
                <a:latin typeface="Cambria Math"/>
                <a:ea typeface="Cambria Math"/>
                <a:cs typeface="Cambria Math"/>
              </a:rPr>
              <a:t>Это заранее объясняет, почему максимум 3D-разности связан главным образом с D и ΔT.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53160" y="201168"/>
            <a:ext cx="530352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3657600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900" b="1">
                <a:solidFill>
                  <a:srgbClr val="5C636E"/>
                </a:solidFill>
                <a:latin typeface="Aptos"/>
              </a:defRPr>
            </a:pPr>
            <a:r>
              <a:rPr>
                <a:solidFill>
                  <a:srgbClr val="1A1F26"/>
                </a:solidFill>
                <a:latin typeface="Arial"/>
              </a:rPr>
              <a:t>1 / ГРАФИК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6692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2500" b="1">
                <a:solidFill>
                  <a:srgbClr val="181B1F"/>
                </a:solidFill>
                <a:latin typeface="Aptos"/>
              </a:defRPr>
            </a:pPr>
            <a:r>
              <a:rPr>
                <a:solidFill>
                  <a:srgbClr val="1A1F26"/>
                </a:solidFill>
                <a:latin typeface="Arial"/>
              </a:rPr>
              <a:t>Сечение 3D-функции распределения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7818120"/>
            <a:ext cx="420624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defRPr sz="800" b="0">
                <a:solidFill>
                  <a:srgbClr val="5C636E"/>
                </a:solidFill>
                <a:latin typeface="Aptos"/>
              </a:defRPr>
            </a:pPr>
            <a:r>
              <a:rPr>
                <a:solidFill>
                  <a:srgbClr val="1A1F26"/>
                </a:solidFill>
                <a:latin typeface="Arial"/>
              </a:rPr>
              <a:t>Анализ землетрясений · Королев Александр</a:t>
            </a:r>
          </a:p>
        </p:txBody>
      </p:sp>
      <p:pic>
        <p:nvPicPr>
          <p:cNvPr id="7" name="Picture 6" descr="F_slice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71" y="1143000"/>
            <a:ext cx="9810657" cy="5715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972800" y="1600200"/>
            <a:ext cx="3017520" cy="31089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81B1F"/>
                </a:solidFill>
                <a:latin typeface="Cambria Math"/>
                <a:ea typeface="Cambria Math"/>
                <a:cs typeface="Cambria Math"/>
              </a:defRPr>
            </a:pPr>
            <a:r>
              <a:rPr>
                <a:solidFill>
                  <a:srgbClr val="1A1F26"/>
                </a:solidFill>
                <a:latin typeface="Cambria Math"/>
                <a:ea typeface="Cambria Math"/>
                <a:cs typeface="Cambria Math"/>
              </a:rPr>
              <a:t>Показано сечение при пороге D≤30 км, а не фиксированная глубина D=30 км.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81B1F"/>
                </a:solidFill>
                <a:latin typeface="Cambria Math"/>
                <a:ea typeface="Cambria Math"/>
                <a:cs typeface="Cambria Math"/>
              </a:defRPr>
            </a:pPr>
            <a:r>
              <a:rPr>
                <a:solidFill>
                  <a:srgbClr val="1A1F26"/>
                </a:solidFill>
                <a:latin typeface="Cambria Math"/>
                <a:ea typeface="Cambria Math"/>
                <a:cs typeface="Cambria Math"/>
              </a:rPr>
              <a:t>Область M&lt;4 и большие ΔT почти не несут визуальной информации, поэтому показан zoom: M≥4, ΔT≤80 000 с.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81B1F"/>
                </a:solidFill>
                <a:latin typeface="Cambria Math"/>
                <a:ea typeface="Cambria Math"/>
                <a:cs typeface="Cambria Math"/>
              </a:defRPr>
            </a:pPr>
            <a:r>
              <a:rPr>
                <a:solidFill>
                  <a:srgbClr val="1A1F26"/>
                </a:solidFill>
                <a:latin typeface="Cambria Math"/>
                <a:ea typeface="Cambria Math"/>
                <a:cs typeface="Cambria Math"/>
              </a:rPr>
              <a:t>Цвет — накопленная вероятность F(M≤m,D≤30,ΔT≤t).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53160" y="201168"/>
            <a:ext cx="530352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t>07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B1C6D08-506A-D4B5-23A4-1F21E5813AB6}"/>
              </a:ext>
            </a:extLst>
          </p:cNvPr>
          <p:cNvSpPr/>
          <p:nvPr/>
        </p:nvSpPr>
        <p:spPr>
          <a:xfrm>
            <a:off x="411480" y="1051560"/>
            <a:ext cx="13807440" cy="16459"/>
          </a:xfrm>
          <a:prstGeom prst="rect">
            <a:avLst/>
          </a:prstGeom>
          <a:solidFill>
            <a:srgbClr val="DA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3657600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900" b="1">
                <a:solidFill>
                  <a:srgbClr val="5C636E"/>
                </a:solidFill>
                <a:latin typeface="Aptos"/>
              </a:defRPr>
            </a:pPr>
            <a:r>
              <a:rPr>
                <a:solidFill>
                  <a:srgbClr val="1A1F26"/>
                </a:solidFill>
                <a:latin typeface="Arial"/>
              </a:rPr>
              <a:t>1 / МАТЕМАТИКА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6692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2500" b="1">
                <a:solidFill>
                  <a:srgbClr val="181B1F"/>
                </a:solidFill>
                <a:latin typeface="Aptos"/>
              </a:defRPr>
            </a:pPr>
            <a:r>
              <a:rPr>
                <a:solidFill>
                  <a:srgbClr val="1A1F26"/>
                </a:solidFill>
                <a:latin typeface="Arial"/>
              </a:rPr>
              <a:t>C-норма как расстояние между распределениями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3807440" cy="10972"/>
          </a:xfrm>
          <a:prstGeom prst="rect">
            <a:avLst/>
          </a:prstGeom>
          <a:solidFill>
            <a:srgbClr val="E4E7EB"/>
          </a:solidFill>
          <a:ln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0" y="7818120"/>
            <a:ext cx="420624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defRPr sz="800" b="0">
                <a:solidFill>
                  <a:srgbClr val="5C636E"/>
                </a:solidFill>
                <a:latin typeface="Aptos"/>
              </a:defRPr>
            </a:pPr>
            <a:r>
              <a:rPr>
                <a:solidFill>
                  <a:srgbClr val="1A1F26"/>
                </a:solidFill>
                <a:latin typeface="Arial"/>
              </a:rPr>
              <a:t>Анализ землетрясений · Королев Александр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1581912"/>
            <a:ext cx="32004" cy="630936"/>
          </a:xfrm>
          <a:prstGeom prst="rect">
            <a:avLst/>
          </a:prstGeom>
          <a:solidFill>
            <a:srgbClr val="245CAC"/>
          </a:solidFill>
          <a:ln>
            <a:solidFill>
              <a:srgbClr val="245C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07007" y="1508760"/>
            <a:ext cx="8119872" cy="777240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l">
              <a:defRPr sz="2600">
                <a:solidFill>
                  <a:srgbClr val="181B1F"/>
                </a:solidFill>
                <a:latin typeface="Cambria Math"/>
                <a:ea typeface="Cambria Math"/>
                <a:cs typeface="Cambria Math"/>
              </a:defRPr>
            </a:pPr>
            <a:r>
              <a:rPr>
                <a:solidFill>
                  <a:srgbClr val="1A1F26"/>
                </a:solidFill>
                <a:latin typeface="Cambria Math"/>
                <a:ea typeface="Cambria Math"/>
                <a:cs typeface="Cambria Math"/>
              </a:rPr>
              <a:t>‖F₁−F₂‖_C = maxᵢⱼₖ |F₁,ᵢⱼₖ − F₂,ᵢⱼₖ|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788920"/>
            <a:ext cx="6858000" cy="200574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800">
                <a:solidFill>
                  <a:srgbClr val="181B1F"/>
                </a:solidFill>
                <a:latin typeface="Cambria Math"/>
                <a:ea typeface="Cambria Math"/>
                <a:cs typeface="Cambria Math"/>
              </a:defRPr>
            </a:pPr>
            <a:r>
              <a:rPr>
                <a:solidFill>
                  <a:srgbClr val="1A1F26"/>
                </a:solidFill>
                <a:latin typeface="Cambria Math"/>
                <a:ea typeface="Cambria Math"/>
                <a:cs typeface="Cambria Math"/>
              </a:rPr>
              <a:t>Это дискретный аналог sup-нормы: ищем точку сетки, где накопленные вероятности отличаются сильнее всего.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800">
                <a:solidFill>
                  <a:srgbClr val="181B1F"/>
                </a:solidFill>
                <a:latin typeface="Aptos"/>
              </a:defRPr>
            </a:pPr>
            <a:r>
              <a:rPr>
                <a:solidFill>
                  <a:srgbClr val="1A1F2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В отличие от среднего отклонения, C-норма чувствительна к самому выраженному локальному изменению распределения.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800">
                <a:solidFill>
                  <a:srgbClr val="181B1F"/>
                </a:solidFill>
                <a:latin typeface="Aptos"/>
              </a:defRPr>
            </a:pPr>
            <a:r>
              <a:rPr>
                <a:solidFill>
                  <a:srgbClr val="1A1F2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Сравнение первой и второй половины проверяет нестационарность каталога во времени.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61120" y="1993392"/>
            <a:ext cx="32004" cy="493775"/>
          </a:xfrm>
          <a:prstGeom prst="rect">
            <a:avLst/>
          </a:prstGeom>
          <a:solidFill>
            <a:srgbClr val="245CAC"/>
          </a:solidFill>
          <a:ln>
            <a:solidFill>
              <a:srgbClr val="245C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070848" y="1920240"/>
            <a:ext cx="4279392" cy="640080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l">
              <a:defRPr sz="2100">
                <a:solidFill>
                  <a:srgbClr val="181B1F"/>
                </a:solidFill>
                <a:latin typeface="Cambria Math"/>
                <a:ea typeface="Cambria Math"/>
                <a:cs typeface="Cambria Math"/>
              </a:defRPr>
            </a:pPr>
            <a:r>
              <a:rPr>
                <a:solidFill>
                  <a:srgbClr val="1A1F26"/>
                </a:solidFill>
                <a:latin typeface="Cambria Math"/>
                <a:ea typeface="Cambria Math"/>
                <a:cs typeface="Cambria Math"/>
              </a:rPr>
              <a:t>F₁: первая половина,     F₂: вторая половина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2971800"/>
            <a:ext cx="4114800" cy="1371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800" b="0">
                <a:solidFill>
                  <a:srgbClr val="181B1F"/>
                </a:solidFill>
                <a:latin typeface="Aptos"/>
              </a:defRPr>
            </a:pPr>
            <a:r>
              <a:rPr>
                <a:solidFill>
                  <a:srgbClr val="1A1F26"/>
                </a:solidFill>
                <a:latin typeface="Arial"/>
              </a:rPr>
              <a:t>Интерпретация: если максимум велик, значит существует область параметров, где доля событий в двух половинах заметно различается.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53160" y="201168"/>
            <a:ext cx="530352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3657600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900" b="1">
                <a:solidFill>
                  <a:srgbClr val="5C636E"/>
                </a:solidFill>
                <a:latin typeface="Aptos"/>
              </a:defRPr>
            </a:pPr>
            <a:r>
              <a:rPr>
                <a:solidFill>
                  <a:srgbClr val="1A1F26"/>
                </a:solidFill>
                <a:latin typeface="Arial"/>
              </a:rPr>
              <a:t>1 / РЕЗУЛЬТАТ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6692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2500" b="1">
                <a:solidFill>
                  <a:srgbClr val="181B1F"/>
                </a:solidFill>
                <a:latin typeface="Aptos"/>
              </a:defRPr>
            </a:pPr>
            <a:r>
              <a:rPr>
                <a:solidFill>
                  <a:srgbClr val="1A1F26"/>
                </a:solidFill>
                <a:latin typeface="Arial"/>
              </a:rPr>
              <a:t>Сравнение первой и второй половины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3807440" cy="10972"/>
          </a:xfrm>
          <a:prstGeom prst="rect">
            <a:avLst/>
          </a:prstGeom>
          <a:solidFill>
            <a:srgbClr val="E4E7EB"/>
          </a:solidFill>
          <a:ln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0" y="7818120"/>
            <a:ext cx="420624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defRPr sz="800" b="0">
                <a:solidFill>
                  <a:srgbClr val="5C636E"/>
                </a:solidFill>
                <a:latin typeface="Aptos"/>
              </a:defRPr>
            </a:pPr>
            <a:r>
              <a:rPr>
                <a:solidFill>
                  <a:srgbClr val="1A1F26"/>
                </a:solidFill>
                <a:latin typeface="Arial"/>
              </a:rPr>
              <a:t>Анализ землетрясений · Королев Александр</a:t>
            </a:r>
          </a:p>
        </p:txBody>
      </p:sp>
      <p:pic>
        <p:nvPicPr>
          <p:cNvPr id="7" name="Picture 6" descr="F_compare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85215"/>
            <a:ext cx="13624560" cy="44739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6537960"/>
            <a:ext cx="12801600" cy="6858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600" b="0">
                <a:solidFill>
                  <a:srgbClr val="181B1F"/>
                </a:solidFill>
                <a:latin typeface="Cambria Math"/>
                <a:ea typeface="Cambria Math"/>
                <a:cs typeface="Cambria Math"/>
              </a:defRPr>
            </a:pPr>
            <a:r>
              <a:rPr>
                <a:solidFill>
                  <a:srgbClr val="1A1F26"/>
                </a:solidFill>
                <a:latin typeface="Cambria Math"/>
                <a:ea typeface="Cambria Math"/>
                <a:cs typeface="Cambria Math"/>
              </a:rPr>
              <a:t>На правом графике синий цвет означает F₁−F₂&lt;0: во второй половине накопленная вероятность больше. Поэтому основное отличие видно как ускоренное накопление событий с небольшими глубинами и малыми ΔT.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53160" y="201168"/>
            <a:ext cx="530352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01168"/>
            <a:ext cx="45720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850" b="1">
                <a:solidFill>
                  <a:srgbClr val="5C6574"/>
                </a:solidFill>
                <a:latin typeface="Arial"/>
              </a:rPr>
              <a:t>1 / РЕЗУЛЬТАТ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57200"/>
            <a:ext cx="9875520" cy="438912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1F2530"/>
                </a:solidFill>
                <a:latin typeface="Arial"/>
              </a:rPr>
              <a:t>Численный результат C-нормы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51560"/>
            <a:ext cx="13807440" cy="16459"/>
          </a:xfrm>
          <a:prstGeom prst="rect">
            <a:avLst/>
          </a:prstGeom>
          <a:solidFill>
            <a:srgbClr val="DA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49187" y="7829929"/>
            <a:ext cx="2769149" cy="1985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ct val="108000"/>
              </a:lnSpc>
            </a:pPr>
            <a:r>
              <a:rPr sz="800" b="0">
                <a:solidFill>
                  <a:srgbClr val="5C6574"/>
                </a:solidFill>
                <a:latin typeface="Arial"/>
              </a:rPr>
              <a:t>Анализ землетрясений · Королев Александр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53160" y="201168"/>
            <a:ext cx="530352" cy="237744"/>
          </a:xfrm>
          <a:prstGeom prst="rect">
            <a:avLst/>
          </a:prstGeom>
          <a:noFill/>
        </p:spPr>
        <p:txBody>
          <a:bodyPr wrap="none" lIns="0" tIns="0" rIns="0" bIns="0">
            <a:normAutofit fontScale="92500" lnSpcReduction="10000"/>
          </a:bodyPr>
          <a:lstStyle/>
          <a:p>
            <a:pPr algn="r"/>
            <a: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435608"/>
            <a:ext cx="32004" cy="512064"/>
          </a:xfrm>
          <a:prstGeom prst="rect">
            <a:avLst/>
          </a:prstGeom>
          <a:solidFill>
            <a:srgbClr val="A0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1417320"/>
            <a:ext cx="1554480" cy="228600"/>
          </a:xfrm>
          <a:prstGeom prst="rect">
            <a:avLst/>
          </a:prstGeom>
          <a:noFill/>
        </p:spPr>
        <p:txBody>
          <a:bodyPr wrap="square">
            <a:normAutofit fontScale="55000" lnSpcReduction="20000"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A04646"/>
                </a:solidFill>
                <a:latin typeface="Arial"/>
              </a:rPr>
              <a:t>0.343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709928"/>
            <a:ext cx="21031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  <a:defRPr>
                <a:latin typeface="Cambria Math"/>
                <a:ea typeface="Cambria Math"/>
                <a:cs typeface="Cambria Math"/>
              </a:defRPr>
            </a:pPr>
            <a:r>
              <a:rPr sz="850" b="0">
                <a:solidFill>
                  <a:srgbClr val="5C6574"/>
                </a:solidFill>
                <a:latin typeface="Cambria Math"/>
                <a:ea typeface="Cambria Math"/>
                <a:cs typeface="Cambria Math"/>
              </a:rPr>
              <a:t>‖F₁−F₂‖_C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4640" y="1435608"/>
            <a:ext cx="32004" cy="512064"/>
          </a:xfrm>
          <a:prstGeom prst="rect">
            <a:avLst/>
          </a:prstGeom>
          <a:solidFill>
            <a:srgbClr val="265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44368" y="1417320"/>
            <a:ext cx="1554480" cy="228600"/>
          </a:xfrm>
          <a:prstGeom prst="rect">
            <a:avLst/>
          </a:prstGeom>
          <a:noFill/>
        </p:spPr>
        <p:txBody>
          <a:bodyPr wrap="square">
            <a:normAutofit fontScale="55000" lnSpcReduction="20000"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265296"/>
                </a:solidFill>
                <a:latin typeface="Arial"/>
              </a:rPr>
              <a:t>25.0%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4368" y="1709928"/>
            <a:ext cx="21031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  <a:defRPr>
                <a:latin typeface="Cambria Math"/>
                <a:ea typeface="Cambria Math"/>
                <a:cs typeface="Cambria Math"/>
              </a:defRPr>
            </a:pPr>
            <a:r>
              <a:rPr sz="850" b="0">
                <a:solidFill>
                  <a:srgbClr val="5C6574"/>
                </a:solidFill>
                <a:latin typeface="Cambria Math"/>
                <a:ea typeface="Cambria Math"/>
                <a:cs typeface="Cambria Math"/>
              </a:rPr>
              <a:t>F₁ в точке максимума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74920" y="1435608"/>
            <a:ext cx="32004" cy="512064"/>
          </a:xfrm>
          <a:prstGeom prst="rect">
            <a:avLst/>
          </a:prstGeom>
          <a:solidFill>
            <a:srgbClr val="307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84648" y="1417320"/>
            <a:ext cx="1554480" cy="228600"/>
          </a:xfrm>
          <a:prstGeom prst="rect">
            <a:avLst/>
          </a:prstGeom>
          <a:noFill/>
        </p:spPr>
        <p:txBody>
          <a:bodyPr wrap="square">
            <a:normAutofit fontScale="55000" lnSpcReduction="20000"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307557"/>
                </a:solidFill>
                <a:latin typeface="Arial"/>
              </a:rPr>
              <a:t>59.3%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84648" y="1709928"/>
            <a:ext cx="21031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  <a:defRPr>
                <a:latin typeface="Cambria Math"/>
                <a:ea typeface="Cambria Math"/>
                <a:cs typeface="Cambria Math"/>
              </a:defRPr>
            </a:pPr>
            <a:r>
              <a:rPr sz="850" b="0">
                <a:solidFill>
                  <a:srgbClr val="5C6574"/>
                </a:solidFill>
                <a:latin typeface="Cambria Math"/>
                <a:ea typeface="Cambria Math"/>
                <a:cs typeface="Cambria Math"/>
              </a:rPr>
              <a:t>F₂ в точке максимума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60920" y="1435608"/>
            <a:ext cx="32004" cy="512064"/>
          </a:xfrm>
          <a:prstGeom prst="rect">
            <a:avLst/>
          </a:prstGeom>
          <a:solidFill>
            <a:srgbClr val="A0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70648" y="1417320"/>
            <a:ext cx="1554480" cy="228600"/>
          </a:xfrm>
          <a:prstGeom prst="rect">
            <a:avLst/>
          </a:prstGeom>
          <a:noFill/>
        </p:spPr>
        <p:txBody>
          <a:bodyPr wrap="square">
            <a:normAutofit fontScale="55000" lnSpcReduction="20000"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A04646"/>
                </a:solidFill>
                <a:latin typeface="Arial"/>
              </a:rPr>
              <a:t>34.3 п.п.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70648" y="1709928"/>
            <a:ext cx="21031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  <a:defRPr>
                <a:latin typeface="Cambria Math"/>
                <a:ea typeface="Cambria Math"/>
                <a:cs typeface="Cambria Math"/>
              </a:defRPr>
            </a:pPr>
            <a:r>
              <a:rPr sz="850" b="0">
                <a:solidFill>
                  <a:srgbClr val="5C6574"/>
                </a:solidFill>
                <a:latin typeface="Cambria Math"/>
                <a:ea typeface="Cambria Math"/>
                <a:cs typeface="Cambria Math"/>
              </a:rPr>
              <a:t>разница F₂−F₁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2788920"/>
            <a:ext cx="32004" cy="475488"/>
          </a:xfrm>
          <a:prstGeom prst="rect">
            <a:avLst/>
          </a:prstGeom>
          <a:solidFill>
            <a:srgbClr val="265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2779776"/>
            <a:ext cx="6400800" cy="384048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l">
              <a:lnSpc>
                <a:spcPct val="108000"/>
              </a:lnSpc>
              <a:defRPr>
                <a:latin typeface="Cambria Math"/>
                <a:ea typeface="Cambria Math"/>
                <a:cs typeface="Cambria Math"/>
              </a:defRPr>
            </a:pPr>
            <a:r>
              <a:rPr sz="2300" b="0">
                <a:solidFill>
                  <a:srgbClr val="1F2530"/>
                </a:solidFill>
                <a:latin typeface="Cambria Math"/>
                <a:ea typeface="Cambria Math"/>
                <a:cs typeface="Cambria Math"/>
              </a:rPr>
              <a:t>M≤8.5,     D≤30 км,     ΔT≤40000 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749039"/>
            <a:ext cx="4754880" cy="292608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F2530"/>
                </a:solidFill>
                <a:latin typeface="Arial"/>
              </a:rPr>
              <a:t>Интерпретация точки максимума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187952"/>
            <a:ext cx="5577840" cy="1508760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>
              <a:lnSpc>
                <a:spcPct val="115000"/>
              </a:lnSpc>
              <a:spcAft>
                <a:spcPts val="700"/>
              </a:spcAft>
              <a:defRPr sz="1370">
                <a:solidFill>
                  <a:srgbClr val="1F2530"/>
                </a:solidFill>
                <a:latin typeface="Cambria Math"/>
                <a:ea typeface="Cambria Math"/>
                <a:cs typeface="Cambria Math"/>
              </a:defRPr>
            </a:pPr>
            <a:r>
              <a:rPr>
                <a:latin typeface="Cambria Math"/>
                <a:ea typeface="Cambria Math"/>
                <a:cs typeface="Cambria Math"/>
              </a:rPr>
              <a:t>• порог M≤8.5 почти не отсекает события, поэтому это не эффект магнитуды;</a:t>
            </a:r>
          </a:p>
          <a:p>
            <a:pPr>
              <a:lnSpc>
                <a:spcPct val="115000"/>
              </a:lnSpc>
              <a:spcAft>
                <a:spcPts val="700"/>
              </a:spcAft>
              <a:defRPr sz="1370">
                <a:solidFill>
                  <a:srgbClr val="1F2530"/>
                </a:solidFill>
                <a:latin typeface="Arial"/>
              </a:defRPr>
            </a:pPr>
            <a:r>
              <a:t>• главное различие возникает в области малых глубин и коротких времен ожидания;</a:t>
            </a:r>
          </a:p>
          <a:p>
            <a:pPr>
              <a:lnSpc>
                <a:spcPct val="115000"/>
              </a:lnSpc>
              <a:spcAft>
                <a:spcPts val="700"/>
              </a:spcAft>
              <a:defRPr sz="1370">
                <a:solidFill>
                  <a:srgbClr val="1F2530"/>
                </a:solidFill>
                <a:latin typeface="Arial"/>
              </a:defRPr>
            </a:pPr>
            <a:r>
              <a:t>• C-норма показывает максимальную разность накопленных долей: около 34 п.п.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3749039"/>
            <a:ext cx="3108960" cy="292608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F2530"/>
                </a:solidFill>
                <a:latin typeface="Arial"/>
              </a:rPr>
              <a:t>Масштаб эффекта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4187952"/>
            <a:ext cx="4206240" cy="1783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defRPr>
                <a:latin typeface="Cambria Math"/>
                <a:ea typeface="Cambria Math"/>
                <a:cs typeface="Cambria Math"/>
              </a:defRPr>
            </a:pPr>
            <a:r>
              <a:rPr sz="1220" b="0">
                <a:solidFill>
                  <a:srgbClr val="5C6574"/>
                </a:solidFill>
                <a:latin typeface="Cambria Math"/>
                <a:ea typeface="Cambria Math"/>
                <a:cs typeface="Cambria Math"/>
              </a:rPr>
              <a:t>В фиксированной области:
p₁≈0.250,   p₂≈0.593.
При iid-оценке SE≈0.004, поэтому наблюдаемое отличие 0.343 намного больше случайной ошибки. Формальный p-value не используем как главный аргумент из-за временной структуры данных.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3657600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900" b="1">
                <a:solidFill>
                  <a:srgbClr val="5C636E"/>
                </a:solidFill>
                <a:latin typeface="Aptos"/>
              </a:defRPr>
            </a:pPr>
            <a:r>
              <a:rPr>
                <a:solidFill>
                  <a:srgbClr val="1A1F26"/>
                </a:solidFill>
                <a:latin typeface="Arial"/>
              </a:rPr>
              <a:t>1 / ВЫВОД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6692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2500" b="1">
                <a:solidFill>
                  <a:srgbClr val="181B1F"/>
                </a:solidFill>
                <a:latin typeface="Aptos"/>
              </a:defRPr>
            </a:pPr>
            <a:r>
              <a:rPr>
                <a:solidFill>
                  <a:srgbClr val="1A1F26"/>
                </a:solidFill>
                <a:latin typeface="Arial"/>
              </a:rPr>
              <a:t>Предметная интерпретация первой части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3807440" cy="10972"/>
          </a:xfrm>
          <a:prstGeom prst="rect">
            <a:avLst/>
          </a:prstGeom>
          <a:solidFill>
            <a:srgbClr val="E4E7EB"/>
          </a:solidFill>
          <a:ln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0" y="7818120"/>
            <a:ext cx="4206240" cy="16004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defRPr sz="800" b="0">
                <a:solidFill>
                  <a:srgbClr val="5C636E"/>
                </a:solidFill>
                <a:latin typeface="Aptos"/>
              </a:defRPr>
            </a:pPr>
            <a:r>
              <a:rPr lang="ru-RU"/>
              <a:t>Анализ землетрясений · Королев Александр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444752"/>
            <a:ext cx="32004" cy="905255"/>
          </a:xfrm>
          <a:prstGeom prst="rect">
            <a:avLst/>
          </a:prstGeom>
          <a:solidFill>
            <a:srgbClr val="2D805A"/>
          </a:solidFill>
          <a:ln>
            <a:solidFill>
              <a:srgbClr val="2D8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50976" y="1371600"/>
            <a:ext cx="2889503" cy="105156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defRPr sz="2400" b="1">
                <a:solidFill>
                  <a:srgbClr val="2D805A"/>
                </a:solidFill>
                <a:latin typeface="Aptos Display"/>
              </a:defRPr>
            </a:pPr>
            <a:r>
              <a:rPr>
                <a:solidFill>
                  <a:srgbClr val="1A1F26"/>
                </a:solidFill>
                <a:latin typeface="Arial"/>
              </a:rPr>
              <a:t>33.0 → 13.1 км</a:t>
            </a:r>
          </a:p>
          <a:p>
            <a:pPr algn="l">
              <a:defRPr sz="1050">
                <a:solidFill>
                  <a:srgbClr val="5C636E"/>
                </a:solidFill>
                <a:latin typeface="Aptos"/>
              </a:defRPr>
            </a:pPr>
            <a:r>
              <a:rPr>
                <a:solidFill>
                  <a:srgbClr val="1A1F26"/>
                </a:solidFill>
                <a:latin typeface="Arial"/>
              </a:rPr>
              <a:t>медианная глубина уменьшилась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1444752"/>
            <a:ext cx="32004" cy="905255"/>
          </a:xfrm>
          <a:prstGeom prst="rect">
            <a:avLst/>
          </a:prstGeom>
          <a:solidFill>
            <a:srgbClr val="C56421"/>
          </a:solidFill>
          <a:ln>
            <a:solidFill>
              <a:srgbClr val="C564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88536" y="1371600"/>
            <a:ext cx="2889503" cy="105156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defRPr sz="2400" b="1">
                <a:solidFill>
                  <a:srgbClr val="C56421"/>
                </a:solidFill>
                <a:latin typeface="Aptos Display"/>
              </a:defRPr>
            </a:pPr>
            <a:r>
              <a:rPr>
                <a:solidFill>
                  <a:srgbClr val="1A1F26"/>
                </a:solidFill>
                <a:latin typeface="Arial"/>
              </a:rPr>
              <a:t>21077 → 9540 с</a:t>
            </a:r>
          </a:p>
          <a:p>
            <a:pPr algn="l">
              <a:defRPr sz="1050">
                <a:solidFill>
                  <a:srgbClr val="5C636E"/>
                </a:solidFill>
                <a:latin typeface="Cambria Math"/>
                <a:ea typeface="Cambria Math"/>
                <a:cs typeface="Cambria Math"/>
              </a:defRPr>
            </a:pPr>
            <a:r>
              <a:rPr>
                <a:solidFill>
                  <a:srgbClr val="1A1F26"/>
                </a:solidFill>
                <a:latin typeface="Cambria Math"/>
                <a:ea typeface="Cambria Math"/>
                <a:cs typeface="Cambria Math"/>
              </a:rPr>
              <a:t>медианное ΔT уменьшилось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79" y="1444752"/>
            <a:ext cx="32004" cy="905255"/>
          </a:xfrm>
          <a:prstGeom prst="rect">
            <a:avLst/>
          </a:prstGeom>
          <a:solidFill>
            <a:srgbClr val="2D805A"/>
          </a:solidFill>
          <a:ln>
            <a:solidFill>
              <a:srgbClr val="2D8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26096" y="1371600"/>
            <a:ext cx="2889503" cy="105156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defRPr sz="2400" b="1">
                <a:solidFill>
                  <a:srgbClr val="2D805A"/>
                </a:solidFill>
                <a:latin typeface="Aptos Display"/>
              </a:defRPr>
            </a:pPr>
            <a:r>
              <a:rPr>
                <a:solidFill>
                  <a:srgbClr val="1A1F26"/>
                </a:solidFill>
                <a:latin typeface="Arial"/>
              </a:rPr>
              <a:t>34.5% → 63.5%</a:t>
            </a:r>
          </a:p>
          <a:p>
            <a:pPr algn="l">
              <a:defRPr sz="1050">
                <a:solidFill>
                  <a:srgbClr val="5C636E"/>
                </a:solidFill>
                <a:latin typeface="Cambria Math"/>
                <a:ea typeface="Cambria Math"/>
                <a:cs typeface="Cambria Math"/>
              </a:defRPr>
            </a:pPr>
            <a:r>
              <a:rPr>
                <a:solidFill>
                  <a:srgbClr val="1A1F26"/>
                </a:solidFill>
                <a:latin typeface="Cambria Math"/>
                <a:ea typeface="Cambria Math"/>
                <a:cs typeface="Cambria Math"/>
              </a:rPr>
              <a:t>доля D≤30 км выросла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835640" y="1444752"/>
            <a:ext cx="32004" cy="905255"/>
          </a:xfrm>
          <a:prstGeom prst="rect">
            <a:avLst/>
          </a:prstGeom>
          <a:solidFill>
            <a:srgbClr val="B03D3D"/>
          </a:solidFill>
          <a:ln>
            <a:solidFill>
              <a:srgbClr val="B03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63656" y="1371600"/>
            <a:ext cx="2889503" cy="105156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defRPr sz="2400" b="1">
                <a:solidFill>
                  <a:srgbClr val="B03D3D"/>
                </a:solidFill>
                <a:latin typeface="Aptos Display"/>
              </a:defRPr>
            </a:pPr>
            <a:r>
              <a:rPr>
                <a:solidFill>
                  <a:srgbClr val="1A1F26"/>
                </a:solidFill>
                <a:latin typeface="Arial"/>
              </a:rPr>
              <a:t>2.46×</a:t>
            </a:r>
          </a:p>
          <a:p>
            <a:pPr algn="l">
              <a:defRPr sz="1050">
                <a:solidFill>
                  <a:srgbClr val="5C636E"/>
                </a:solidFill>
                <a:latin typeface="Aptos"/>
              </a:defRPr>
            </a:pPr>
            <a:r>
              <a:rPr>
                <a:solidFill>
                  <a:srgbClr val="1A1F26"/>
                </a:solidFill>
                <a:latin typeface="Arial"/>
              </a:rPr>
              <a:t>частота событий выше во 2-й половине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926080"/>
            <a:ext cx="12527280" cy="21945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800">
                <a:solidFill>
                  <a:srgbClr val="181B1F"/>
                </a:solidFill>
                <a:latin typeface="Aptos"/>
              </a:defRPr>
            </a:pPr>
            <a:r>
              <a:rPr>
                <a:solidFill>
                  <a:srgbClr val="1A1F26"/>
                </a:solidFill>
                <a:latin typeface="Arial"/>
              </a:rPr>
              <a:t>Деление сделано по числу событий, а не по равным временным интервалам: поэтому сравнение половин показывает изменение режима каталога во времени.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800">
                <a:solidFill>
                  <a:srgbClr val="181B1F"/>
                </a:solidFill>
                <a:latin typeface="Aptos"/>
              </a:defRPr>
            </a:pPr>
            <a:r>
              <a:rPr>
                <a:solidFill>
                  <a:srgbClr val="1A1F26"/>
                </a:solidFill>
                <a:latin typeface="Arial"/>
              </a:rPr>
              <a:t>Вторая половина занимает меньший промежуток наблюдения, но содержит столько же событий: средняя частота событий выше примерно в 2.5 раза.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800">
                <a:solidFill>
                  <a:srgbClr val="181B1F"/>
                </a:solidFill>
                <a:latin typeface="Aptos"/>
              </a:defRPr>
            </a:pPr>
            <a:r>
              <a:rPr>
                <a:solidFill>
                  <a:srgbClr val="1A1F26"/>
                </a:solidFill>
                <a:latin typeface="Arial"/>
              </a:rPr>
              <a:t>Совместно с падением медианной глубины это указывает на рост доли мелкофокусных и часто следующих друг за другом событий.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11680" y="5879592"/>
            <a:ext cx="32004" cy="585216"/>
          </a:xfrm>
          <a:prstGeom prst="rect">
            <a:avLst/>
          </a:prstGeom>
          <a:solidFill>
            <a:srgbClr val="245CAC"/>
          </a:solidFill>
          <a:ln>
            <a:solidFill>
              <a:srgbClr val="245C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121408" y="5806440"/>
            <a:ext cx="10405872" cy="731520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l">
              <a:defRPr sz="2300">
                <a:solidFill>
                  <a:srgbClr val="181B1F"/>
                </a:solidFill>
                <a:latin typeface="Cambria Math"/>
                <a:ea typeface="Cambria Math"/>
                <a:cs typeface="Cambria Math"/>
              </a:defRPr>
            </a:pPr>
            <a:r>
              <a:rPr>
                <a:solidFill>
                  <a:srgbClr val="1A1F26"/>
                </a:solidFill>
                <a:latin typeface="Cambria Math"/>
                <a:ea typeface="Cambria Math"/>
                <a:cs typeface="Cambria Math"/>
              </a:rPr>
              <a:t>главный вклад в отличие F₁ и F₂ дают D и ΔT, а не 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53160" y="201168"/>
            <a:ext cx="530352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3657600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900" b="1">
                <a:solidFill>
                  <a:srgbClr val="5C636E"/>
                </a:solidFill>
                <a:latin typeface="Aptos"/>
              </a:defRPr>
            </a:pPr>
            <a:r>
              <a:rPr>
                <a:solidFill>
                  <a:srgbClr val="1A1F26"/>
                </a:solidFill>
                <a:latin typeface="Arial"/>
              </a:rPr>
              <a:t>2 / ЛИНЕЙНЫЕ СВЯЗИ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6692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2500" b="1">
                <a:solidFill>
                  <a:srgbClr val="181B1F"/>
                </a:solidFill>
                <a:latin typeface="Aptos"/>
              </a:defRPr>
            </a:pPr>
            <a:r>
              <a:rPr>
                <a:solidFill>
                  <a:srgbClr val="1A1F26"/>
                </a:solidFill>
                <a:latin typeface="Arial"/>
              </a:rPr>
              <a:t>Корреляционная матрица: что она проверяет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3807440" cy="10972"/>
          </a:xfrm>
          <a:prstGeom prst="rect">
            <a:avLst/>
          </a:prstGeom>
          <a:solidFill>
            <a:srgbClr val="E4E7EB"/>
          </a:solidFill>
          <a:ln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0" y="7818120"/>
            <a:ext cx="4206240" cy="16004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defRPr sz="800" b="0">
                <a:solidFill>
                  <a:srgbClr val="5C636E"/>
                </a:solidFill>
                <a:latin typeface="Aptos"/>
              </a:defRPr>
            </a:pPr>
            <a:r>
              <a:rPr lang="ru-RU"/>
              <a:t>Анализ землетрясений · Королев Александр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490472"/>
            <a:ext cx="32004" cy="630936"/>
          </a:xfrm>
          <a:prstGeom prst="rect">
            <a:avLst/>
          </a:prstGeom>
          <a:solidFill>
            <a:srgbClr val="245CAC"/>
          </a:solidFill>
          <a:ln>
            <a:solidFill>
              <a:srgbClr val="245C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417320"/>
            <a:ext cx="10680192" cy="777240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l">
              <a:defRPr sz="2200">
                <a:solidFill>
                  <a:srgbClr val="181B1F"/>
                </a:solidFill>
                <a:latin typeface="Cambria Math"/>
                <a:ea typeface="Cambria Math"/>
                <a:cs typeface="Cambria Math"/>
              </a:defRPr>
            </a:pPr>
            <a:r>
              <a:rPr>
                <a:solidFill>
                  <a:srgbClr val="1A1F26"/>
                </a:solidFill>
                <a:latin typeface="Cambria Math"/>
                <a:ea typeface="Cambria Math"/>
                <a:cs typeface="Cambria Math"/>
              </a:rPr>
              <a:t>R = (rᵢⱼ),     rᵢⱼ = cov(Xᵢ,Xⱼ)/(σᵢ σⱼ),     X=(M,D,ΔT)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88920"/>
            <a:ext cx="7315200" cy="20116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800">
                <a:solidFill>
                  <a:srgbClr val="181B1F"/>
                </a:solidFill>
                <a:latin typeface="Aptos"/>
              </a:defRPr>
            </a:pPr>
            <a:r>
              <a:rPr>
                <a:solidFill>
                  <a:srgbClr val="1A1F26"/>
                </a:solidFill>
                <a:latin typeface="Arial"/>
              </a:rPr>
              <a:t>Корреляция измеряет только линейную связь между парами параметров.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800">
                <a:solidFill>
                  <a:srgbClr val="181B1F"/>
                </a:solidFill>
                <a:latin typeface="Aptos"/>
              </a:defRPr>
            </a:pPr>
            <a:r>
              <a:rPr>
                <a:solidFill>
                  <a:srgbClr val="1A1F26"/>
                </a:solidFill>
                <a:latin typeface="Arial"/>
              </a:rPr>
              <a:t>Она не обязана ловить изменение формы распределения или локальную зависимость в отдельных ячейках.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800">
                <a:solidFill>
                  <a:srgbClr val="181B1F"/>
                </a:solidFill>
                <a:latin typeface="Aptos"/>
              </a:defRPr>
            </a:pPr>
            <a:r>
              <a:rPr>
                <a:solidFill>
                  <a:srgbClr val="1A1F26"/>
                </a:solidFill>
                <a:latin typeface="Arial"/>
              </a:rPr>
              <a:t>Поэтому слабая корреляция не противоречит большой C-норме между функциями распределения.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2788920"/>
            <a:ext cx="41148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2100" b="1">
                <a:solidFill>
                  <a:srgbClr val="C56421"/>
                </a:solidFill>
                <a:latin typeface="Aptos"/>
              </a:defRPr>
            </a:pPr>
            <a:r>
              <a:rPr>
                <a:solidFill>
                  <a:srgbClr val="1A1F26"/>
                </a:solidFill>
                <a:latin typeface="Arial"/>
              </a:rPr>
              <a:t>Методический смысл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3291840"/>
            <a:ext cx="4206240" cy="1325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800" b="0">
                <a:solidFill>
                  <a:srgbClr val="181B1F"/>
                </a:solidFill>
                <a:latin typeface="Cambria Math"/>
                <a:ea typeface="Cambria Math"/>
                <a:cs typeface="Cambria Math"/>
              </a:defRPr>
            </a:pPr>
            <a:r>
              <a:rPr>
                <a:solidFill>
                  <a:srgbClr val="1A1F26"/>
                </a:solidFill>
                <a:latin typeface="Cambria Math"/>
                <a:ea typeface="Cambria Math"/>
                <a:cs typeface="Cambria Math"/>
              </a:rPr>
              <a:t>Часть 2 отвечает на другой вопрос: есть ли простая линейная зависимость между M, D и ΔT. Это не то же самое, что равенство распределений.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53160" y="201168"/>
            <a:ext cx="530352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3657600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900" b="1">
                <a:solidFill>
                  <a:srgbClr val="5C636E"/>
                </a:solidFill>
                <a:latin typeface="Aptos"/>
              </a:defRPr>
            </a:pPr>
            <a:r>
              <a:rPr>
                <a:solidFill>
                  <a:srgbClr val="1A1F26"/>
                </a:solidFill>
                <a:latin typeface="Arial"/>
              </a:rPr>
              <a:t>2 / ГРАФИК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6692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2500" b="1">
                <a:solidFill>
                  <a:srgbClr val="181B1F"/>
                </a:solidFill>
                <a:latin typeface="Aptos"/>
              </a:defRPr>
            </a:pPr>
            <a:r>
              <a:rPr>
                <a:solidFill>
                  <a:srgbClr val="1A1F26"/>
                </a:solidFill>
                <a:latin typeface="Arial"/>
              </a:rPr>
              <a:t>Корреляционные матрицы без диагонали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3807440" cy="10972"/>
          </a:xfrm>
          <a:prstGeom prst="rect">
            <a:avLst/>
          </a:prstGeom>
          <a:solidFill>
            <a:srgbClr val="E4E7EB"/>
          </a:solidFill>
          <a:ln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0" y="7818120"/>
            <a:ext cx="4206240" cy="28315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defRPr sz="800" b="0">
                <a:solidFill>
                  <a:srgbClr val="5C636E"/>
                </a:solidFill>
                <a:latin typeface="Aptos"/>
              </a:defRPr>
            </a:pPr>
            <a:r>
              <a:rPr lang="ru-RU"/>
              <a:t>Анализ землетрясений · Королев Александр</a:t>
            </a:r>
          </a:p>
          <a:p>
            <a:pPr algn="r">
              <a:defRPr sz="800" b="0">
                <a:solidFill>
                  <a:srgbClr val="5C636E"/>
                </a:solidFill>
                <a:latin typeface="Aptos"/>
              </a:defRPr>
            </a:pPr>
            <a:endParaRPr lang="ru-RU"/>
          </a:p>
        </p:txBody>
      </p:sp>
      <p:pic>
        <p:nvPicPr>
          <p:cNvPr id="7" name="Picture 6" descr="corr_offdi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281441"/>
            <a:ext cx="12618720" cy="429511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97280" y="6172200"/>
            <a:ext cx="1243584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700" b="0">
                <a:solidFill>
                  <a:srgbClr val="181B1F"/>
                </a:solidFill>
                <a:latin typeface="Cambria Math"/>
                <a:ea typeface="Cambria Math"/>
                <a:cs typeface="Cambria Math"/>
              </a:defRPr>
            </a:pPr>
            <a:r>
              <a:rPr>
                <a:solidFill>
                  <a:srgbClr val="1A1F26"/>
                </a:solidFill>
                <a:latin typeface="Cambria Math"/>
                <a:ea typeface="Cambria Math"/>
                <a:cs typeface="Cambria Math"/>
              </a:rPr>
              <a:t>Диагональ исключена из цветовой шкалы: corr(X,X)=1 всегда и скрывает различия между маленькими внедиагональными коэффициентами.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53160" y="201168"/>
            <a:ext cx="530352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6" y="241401"/>
            <a:ext cx="54864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5C6574"/>
                </a:solidFill>
                <a:latin typeface="Arial"/>
              </a:rPr>
              <a:t>2 / ЛИНЕЙНЫЕ СВЯЗИ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548640"/>
            <a:ext cx="11850624" cy="52669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1F2530"/>
                </a:solidFill>
                <a:latin typeface="Arial"/>
              </a:rPr>
              <a:t>Корреляционная матрица: линейная часть анализа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61872"/>
            <a:ext cx="13807440" cy="19750"/>
          </a:xfrm>
          <a:prstGeom prst="rect">
            <a:avLst/>
          </a:prstGeom>
          <a:solidFill>
            <a:srgbClr val="DA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" name="TextBox 4"/>
          <p:cNvSpPr txBox="1"/>
          <p:nvPr/>
        </p:nvSpPr>
        <p:spPr>
          <a:xfrm>
            <a:off x="11356848" y="7878470"/>
            <a:ext cx="2578608" cy="19751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ct val="108000"/>
              </a:lnSpc>
            </a:pPr>
            <a:r>
              <a:rPr sz="800" b="0">
                <a:solidFill>
                  <a:srgbClr val="5C6574"/>
                </a:solidFill>
                <a:latin typeface="Arial"/>
              </a:rPr>
              <a:t>Анализ землетрясений · Королев Александр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53160" y="201168"/>
            <a:ext cx="530352" cy="23774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r>
              <a:rPr sz="2000"/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00784"/>
            <a:ext cx="5925312" cy="30723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8000"/>
              </a:lnSpc>
            </a:pPr>
            <a:r>
              <a:rPr b="1">
                <a:solidFill>
                  <a:srgbClr val="1F2530"/>
                </a:solidFill>
                <a:latin typeface="Arial"/>
              </a:rPr>
              <a:t>1. Что измеряет корреляция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72614"/>
            <a:ext cx="5925312" cy="3950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8000"/>
              </a:lnSpc>
              <a:defRPr>
                <a:latin typeface="Cambria Math"/>
                <a:ea typeface="Cambria Math"/>
                <a:cs typeface="Cambria Math"/>
              </a:defRPr>
            </a:pPr>
            <a:r>
              <a:rPr sz="2400" b="0">
                <a:solidFill>
                  <a:srgbClr val="1F2530"/>
                </a:solidFill>
                <a:latin typeface="Cambria Math"/>
                <a:ea typeface="Cambria Math"/>
                <a:cs typeface="Cambria Math"/>
              </a:rPr>
              <a:t>corr(X,Y) = Cov(X,Y)/(σₓσᵧ)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21254"/>
            <a:ext cx="6254496" cy="63642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5C6574"/>
                </a:solidFill>
                <a:latin typeface="Arial"/>
              </a:rPr>
              <a:t>Это нормированная линейная связь: знак задаёт направление, модуль — силу линейного наклона.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30752"/>
            <a:ext cx="5925312" cy="30723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8000"/>
              </a:lnSpc>
            </a:pPr>
            <a:r>
              <a:rPr b="1">
                <a:solidFill>
                  <a:srgbClr val="1F2530"/>
                </a:solidFill>
                <a:latin typeface="Arial"/>
              </a:rPr>
              <a:t>2. Что получилось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224528"/>
            <a:ext cx="6583680" cy="14813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15000"/>
              </a:lnSpc>
              <a:spcAft>
                <a:spcPts val="700"/>
              </a:spcAft>
              <a:defRPr sz="1280">
                <a:solidFill>
                  <a:srgbClr val="1F2530"/>
                </a:solidFill>
                <a:latin typeface="Cambria Math"/>
                <a:ea typeface="Cambria Math"/>
                <a:cs typeface="Cambria Math"/>
              </a:defRPr>
            </a:pPr>
            <a:r>
              <a:rPr sz="1500">
                <a:latin typeface="Cambria Math"/>
                <a:ea typeface="Cambria Math"/>
                <a:cs typeface="Cambria Math"/>
              </a:rPr>
              <a:t>• внедиагональные коэффициенты малы: |corr| ≤ 0.12;</a:t>
            </a:r>
          </a:p>
          <a:p>
            <a:pPr>
              <a:lnSpc>
                <a:spcPct val="115000"/>
              </a:lnSpc>
              <a:spcAft>
                <a:spcPts val="700"/>
              </a:spcAft>
              <a:defRPr sz="1280">
                <a:solidFill>
                  <a:srgbClr val="1F2530"/>
                </a:solidFill>
                <a:latin typeface="Arial"/>
              </a:defRPr>
            </a:pPr>
            <a:r>
              <a:rPr sz="1500"/>
              <a:t>• матрица близка к единичной: сильного линейного направления не видно;</a:t>
            </a:r>
          </a:p>
          <a:p>
            <a:pPr>
              <a:lnSpc>
                <a:spcPct val="115000"/>
              </a:lnSpc>
              <a:spcAft>
                <a:spcPts val="700"/>
              </a:spcAft>
              <a:defRPr sz="1280">
                <a:solidFill>
                  <a:srgbClr val="1F2530"/>
                </a:solidFill>
                <a:latin typeface="Cambria Math"/>
                <a:ea typeface="Cambria Math"/>
                <a:cs typeface="Cambria Math"/>
              </a:defRPr>
            </a:pPr>
            <a:r>
              <a:rPr sz="1500">
                <a:latin typeface="Cambria Math"/>
                <a:ea typeface="Cambria Math"/>
                <a:cs typeface="Cambria Math"/>
              </a:rPr>
              <a:t>• во второй половине почти исчезает связь M–ΔT, но эффект всё равно слабый.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0688" y="1700784"/>
            <a:ext cx="5596128" cy="30723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8000"/>
              </a:lnSpc>
            </a:pPr>
            <a:r>
              <a:rPr b="1">
                <a:solidFill>
                  <a:srgbClr val="1F2530"/>
                </a:solidFill>
                <a:latin typeface="Arial"/>
              </a:rPr>
              <a:t>3. Как это связано с C-нормой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90688" y="2194560"/>
            <a:ext cx="5705856" cy="30723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5C6574"/>
                </a:solidFill>
                <a:latin typeface="Arial"/>
              </a:rPr>
              <a:t>C-норма сравнивает всю трёхмерную функцию распределения: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0688" y="2655417"/>
            <a:ext cx="3511296" cy="3950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8000"/>
              </a:lnSpc>
              <a:defRPr>
                <a:latin typeface="Cambria Math"/>
                <a:ea typeface="Cambria Math"/>
                <a:cs typeface="Cambria Math"/>
              </a:defRPr>
            </a:pPr>
            <a:r>
              <a:rPr sz="2400" b="0">
                <a:solidFill>
                  <a:srgbClr val="1F2530"/>
                </a:solidFill>
                <a:latin typeface="Cambria Math"/>
                <a:ea typeface="Cambria Math"/>
                <a:cs typeface="Cambria Math"/>
              </a:rPr>
              <a:t>sup |F₁ − F₂|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0688" y="3346704"/>
            <a:ext cx="5705856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5C6574"/>
                </a:solidFill>
                <a:latin typeface="Arial"/>
              </a:rPr>
              <a:t>Корреляция проверяет только попарную линейную связь. Поэтому два вывода не противоречат друг другу: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0688" y="4257446"/>
            <a:ext cx="5925312" cy="11521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5000"/>
              </a:lnSpc>
              <a:spcAft>
                <a:spcPts val="700"/>
              </a:spcAft>
              <a:defRPr sz="1280">
                <a:solidFill>
                  <a:srgbClr val="1F2530"/>
                </a:solidFill>
                <a:latin typeface="Arial"/>
              </a:defRPr>
            </a:pPr>
            <a:r>
              <a:rPr sz="1400"/>
              <a:t>• распределение заметно меняется по глубине и времени ожидания;</a:t>
            </a:r>
          </a:p>
          <a:p>
            <a:pPr>
              <a:lnSpc>
                <a:spcPct val="115000"/>
              </a:lnSpc>
              <a:spcAft>
                <a:spcPts val="700"/>
              </a:spcAft>
              <a:defRPr sz="1280">
                <a:solidFill>
                  <a:srgbClr val="1F2530"/>
                </a:solidFill>
                <a:latin typeface="Cambria Math"/>
                <a:ea typeface="Cambria Math"/>
                <a:cs typeface="Cambria Math"/>
              </a:defRPr>
            </a:pPr>
            <a:r>
              <a:rPr sz="1400">
                <a:latin typeface="Cambria Math"/>
                <a:ea typeface="Cambria Math"/>
                <a:cs typeface="Cambria Math"/>
              </a:rPr>
              <a:t>• но это изменение не сводится к сильной линейной зависимости между M, D и ΔT.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90688" y="6199632"/>
            <a:ext cx="38404" cy="548640"/>
          </a:xfrm>
          <a:prstGeom prst="rect">
            <a:avLst/>
          </a:prstGeom>
          <a:solidFill>
            <a:srgbClr val="2652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8" name="TextBox 17"/>
          <p:cNvSpPr txBox="1"/>
          <p:nvPr/>
        </p:nvSpPr>
        <p:spPr>
          <a:xfrm>
            <a:off x="7988198" y="6122822"/>
            <a:ext cx="5650992" cy="100949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F2530"/>
                </a:solidFill>
                <a:latin typeface="Arial"/>
              </a:rPr>
              <a:t>Вывод: первая часть показывает нестационарность распределения, а корреляционная матрица показывает, что простой линейной связи между параметрами почти нет.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6" y="241401"/>
            <a:ext cx="54864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850" b="1">
                <a:solidFill>
                  <a:srgbClr val="5C6574"/>
                </a:solidFill>
                <a:latin typeface="Arial"/>
              </a:rPr>
              <a:t>2 / МАТЕМАТИКА PCA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548640"/>
            <a:ext cx="11850624" cy="52669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1F2530"/>
                </a:solidFill>
                <a:latin typeface="Arial"/>
              </a:rPr>
              <a:t>Метод главных компонент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261872"/>
            <a:ext cx="13807440" cy="19750"/>
          </a:xfrm>
          <a:prstGeom prst="rect">
            <a:avLst/>
          </a:prstGeom>
          <a:solidFill>
            <a:srgbClr val="DA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56848" y="7878470"/>
            <a:ext cx="2578608" cy="19751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r">
              <a:lnSpc>
                <a:spcPct val="108000"/>
              </a:lnSpc>
            </a:pPr>
            <a:r>
              <a:rPr sz="700" b="0">
                <a:solidFill>
                  <a:srgbClr val="5C6574"/>
                </a:solidFill>
                <a:latin typeface="Arial"/>
              </a:rPr>
              <a:t>Анализ землетрясений · Королев Александр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53160" y="201168"/>
            <a:ext cx="530352" cy="237744"/>
          </a:xfrm>
          <a:prstGeom prst="rect">
            <a:avLst/>
          </a:prstGeom>
          <a:noFill/>
        </p:spPr>
        <p:txBody>
          <a:bodyPr wrap="none" lIns="0" tIns="0" rIns="0" bIns="0">
            <a:normAutofit fontScale="92500" lnSpcReduction="10000"/>
          </a:bodyPr>
          <a:lstStyle/>
          <a:p>
            <a:pPr algn="r"/>
            <a: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23974"/>
            <a:ext cx="4937760" cy="307238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l">
              <a:lnSpc>
                <a:spcPct val="108000"/>
              </a:lnSpc>
            </a:pPr>
            <a:r>
              <a:rPr sz="1650" b="1">
                <a:solidFill>
                  <a:srgbClr val="1F2530"/>
                </a:solidFill>
                <a:latin typeface="Arial"/>
              </a:rPr>
              <a:t>1. Стандартизация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62886"/>
            <a:ext cx="1261872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8000"/>
              </a:lnSpc>
              <a:defRPr>
                <a:latin typeface="Cambria Math"/>
                <a:ea typeface="Cambria Math"/>
                <a:cs typeface="Cambria Math"/>
              </a:defRPr>
            </a:pPr>
            <a:r>
              <a:rPr sz="2000" b="0">
                <a:solidFill>
                  <a:srgbClr val="1F2530"/>
                </a:solidFill>
                <a:latin typeface="Cambria Math"/>
                <a:ea typeface="Cambria Math"/>
                <a:cs typeface="Cambria Math"/>
              </a:rPr>
              <a:t>Xⱼˢᵗᵈ = (Xⱼ − mean(Xⱼ)) / σⱼ      ⇒      E Xⱼˢᵗᵈ = 0,   Var(Xⱼˢᵗᵈ)=1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23744"/>
            <a:ext cx="12289536" cy="35112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8000"/>
              </a:lnSpc>
              <a:defRPr>
                <a:latin typeface="Cambria Math"/>
                <a:ea typeface="Cambria Math"/>
                <a:cs typeface="Cambria Math"/>
              </a:defRPr>
            </a:pPr>
            <a:r>
              <a:rPr sz="1700" b="0">
                <a:solidFill>
                  <a:srgbClr val="5C6574"/>
                </a:solidFill>
                <a:latin typeface="Cambria Math"/>
                <a:ea typeface="Cambria Math"/>
                <a:cs typeface="Cambria Math"/>
              </a:rPr>
              <a:t>R = Cov(Xˢᵗᵈ), поэтому собственные значения описывают не физические единицы, а структуру связей между признаками.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050438"/>
            <a:ext cx="12728448" cy="13166"/>
          </a:xfrm>
          <a:prstGeom prst="rect">
            <a:avLst/>
          </a:prstGeom>
          <a:solidFill>
            <a:srgbClr val="DA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3346704"/>
            <a:ext cx="4937760" cy="307238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l">
              <a:lnSpc>
                <a:spcPct val="108000"/>
              </a:lnSpc>
            </a:pPr>
            <a:r>
              <a:rPr sz="1650" b="1">
                <a:solidFill>
                  <a:srgbClr val="1F2530"/>
                </a:solidFill>
                <a:latin typeface="Arial"/>
              </a:rPr>
              <a:t>2. Проекция на направление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85616"/>
            <a:ext cx="12728448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8000"/>
              </a:lnSpc>
              <a:defRPr>
                <a:latin typeface="Cambria Math"/>
                <a:ea typeface="Cambria Math"/>
                <a:cs typeface="Cambria Math"/>
              </a:defRPr>
            </a:pPr>
            <a:r>
              <a:rPr sz="2000" b="0">
                <a:solidFill>
                  <a:srgbClr val="1F2530"/>
                </a:solidFill>
                <a:latin typeface="Cambria Math"/>
                <a:ea typeface="Cambria Math"/>
                <a:cs typeface="Cambria Math"/>
              </a:rPr>
              <a:t>u=(u₁,u₂,u₃),  ‖u‖=1,       zᵢ = xᵢˢᵗᵈ·u = u₁Mᵢˢᵗᵈ + u₂Dᵢˢᵗᵈ + u₃Δtᵢˢᵗᵈ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57446"/>
            <a:ext cx="12070080" cy="35112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8000"/>
              </a:lnSpc>
              <a:defRPr>
                <a:latin typeface="Cambria Math"/>
                <a:ea typeface="Cambria Math"/>
                <a:cs typeface="Cambria Math"/>
              </a:defRPr>
            </a:pPr>
            <a:r>
              <a:rPr sz="2000" b="0">
                <a:solidFill>
                  <a:srgbClr val="5C6574"/>
                </a:solidFill>
                <a:latin typeface="Cambria Math"/>
                <a:ea typeface="Cambria Math"/>
                <a:cs typeface="Cambria Math"/>
              </a:rPr>
              <a:t>Var(z)=uᵀRu. PCA ищет направление u, где эта дисперсия максимальна.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773166"/>
            <a:ext cx="12728448" cy="13166"/>
          </a:xfrm>
          <a:prstGeom prst="rect">
            <a:avLst/>
          </a:prstGeom>
          <a:solidFill>
            <a:srgbClr val="DADE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5069433"/>
            <a:ext cx="4937760" cy="307238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l">
              <a:lnSpc>
                <a:spcPct val="108000"/>
              </a:lnSpc>
            </a:pPr>
            <a:r>
              <a:rPr sz="1650" b="1">
                <a:solidFill>
                  <a:srgbClr val="1F2530"/>
                </a:solidFill>
                <a:latin typeface="Arial"/>
              </a:rPr>
              <a:t>3. Собственные направления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508345"/>
            <a:ext cx="12728448" cy="3730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8000"/>
              </a:lnSpc>
              <a:defRPr>
                <a:latin typeface="Cambria Math"/>
                <a:ea typeface="Cambria Math"/>
                <a:cs typeface="Cambria Math"/>
              </a:defRPr>
            </a:pPr>
            <a:r>
              <a:rPr sz="2000" b="0">
                <a:solidFill>
                  <a:srgbClr val="1F2530"/>
                </a:solidFill>
                <a:latin typeface="Cambria Math"/>
                <a:ea typeface="Cambria Math"/>
                <a:cs typeface="Cambria Math"/>
              </a:rPr>
              <a:t>R qₖ = λₖqₖ,       u = a₁q₁+a₂q₂+a₃q₃,       a₁²+a₂²+a₃²=1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013094"/>
            <a:ext cx="10424160" cy="3950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08000"/>
              </a:lnSpc>
              <a:defRPr>
                <a:latin typeface="Cambria Math"/>
                <a:ea typeface="Cambria Math"/>
                <a:cs typeface="Cambria Math"/>
              </a:defRPr>
            </a:pPr>
            <a:r>
              <a:rPr sz="2100" b="0">
                <a:solidFill>
                  <a:srgbClr val="1F2530"/>
                </a:solidFill>
                <a:latin typeface="Cambria Math"/>
                <a:ea typeface="Cambria Math"/>
                <a:cs typeface="Cambria Math"/>
              </a:rPr>
              <a:t>uᵀRu = λ₁a₁² + λ₂a₂² + λ₃a₃²  ≤  λ₁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444326"/>
            <a:ext cx="12618720" cy="60350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12000"/>
              </a:lnSpc>
              <a:defRPr>
                <a:latin typeface="Cambria Math"/>
                <a:ea typeface="Cambria Math"/>
                <a:cs typeface="Cambria Math"/>
              </a:defRPr>
            </a:pPr>
            <a:r>
              <a:rPr sz="2000" b="0">
                <a:solidFill>
                  <a:srgbClr val="5C6574"/>
                </a:solidFill>
                <a:latin typeface="Cambria Math"/>
                <a:ea typeface="Cambria Math"/>
                <a:cs typeface="Cambria Math"/>
              </a:rPr>
              <a:t>Значит, q₁ — направление максимального разброса, а λ₁ — дисперсия вдоль него. Если λ₁, λ₂, λ₃ близки к 1, выраженного главного направления нет.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3504" y="307238"/>
            <a:ext cx="43891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000" b="1">
                <a:solidFill>
                  <a:srgbClr val="5F5F5F"/>
                </a:solidFill>
                <a:latin typeface="Aptos"/>
              </a:defRPr>
            </a:pPr>
            <a:r>
              <a:rPr>
                <a:solidFill>
                  <a:srgbClr val="1A1F26"/>
                </a:solidFill>
                <a:latin typeface="Arial"/>
              </a:rPr>
              <a:t>2 / ГЕОМЕТРИЯ PCA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603504"/>
            <a:ext cx="12838176" cy="49377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2500" b="1">
                <a:solidFill>
                  <a:srgbClr val="1E1E1E"/>
                </a:solidFill>
                <a:latin typeface="Aptos"/>
              </a:defRPr>
            </a:pPr>
            <a:r>
              <a:rPr>
                <a:solidFill>
                  <a:srgbClr val="1A1F26"/>
                </a:solidFill>
                <a:latin typeface="Arial"/>
              </a:rPr>
              <a:t>Собственные направления: полный датасет и две половины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152144"/>
            <a:ext cx="13807440" cy="0"/>
          </a:xfrm>
          <a:prstGeom prst="line">
            <a:avLst/>
          </a:prstGeom>
          <a:ln w="1397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pca_3d_crop_for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" y="1338681"/>
            <a:ext cx="13661136" cy="5129748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822960" y="6934809"/>
            <a:ext cx="12947904" cy="0"/>
          </a:xfrm>
          <a:prstGeom prst="line">
            <a:avLst/>
          </a:prstGeom>
          <a:ln w="1270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7824" y="7132320"/>
            <a:ext cx="13167360" cy="60350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50" b="0">
                <a:solidFill>
                  <a:srgbClr val="1E1E1E"/>
                </a:solidFill>
                <a:latin typeface="Aptos"/>
              </a:defRPr>
            </a:pPr>
            <a:r>
              <a:rPr>
                <a:solidFill>
                  <a:srgbClr val="1A1F26"/>
                </a:solidFill>
                <a:latin typeface="Arial"/>
              </a:rPr>
              <a:t>Цвета векторов привязаны к направлениям PCA полного датасета: их можно сравнивать между графиками. Собственные значения близки к 1, поэтому сильной вытянутости облака нет; во второй половине ориентация направлений меняется, но доминирующая компонента остаётся слабой.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3504" y="7878470"/>
            <a:ext cx="13441680" cy="0"/>
          </a:xfrm>
          <a:prstGeom prst="line">
            <a:avLst/>
          </a:prstGeom>
          <a:ln w="10160"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854696" y="7933334"/>
            <a:ext cx="6364224" cy="28315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defRPr sz="800" b="0">
                <a:solidFill>
                  <a:srgbClr val="5C636E"/>
                </a:solidFill>
                <a:latin typeface="Aptos"/>
              </a:defRPr>
            </a:pPr>
            <a:r>
              <a:rPr lang="ru-RU"/>
              <a:t>Анализ землетрясений · Королев Александр</a:t>
            </a:r>
            <a:br>
              <a:rPr lang="ru-RU"/>
            </a:br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13853160" y="201168"/>
            <a:ext cx="530352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3657600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900" b="1">
                <a:solidFill>
                  <a:srgbClr val="5C636E"/>
                </a:solidFill>
                <a:latin typeface="Aptos"/>
              </a:defRPr>
            </a:pPr>
            <a:r>
              <a:rPr>
                <a:solidFill>
                  <a:srgbClr val="1A1F26"/>
                </a:solidFill>
                <a:latin typeface="Arial"/>
              </a:rPr>
              <a:t>2 / ВЫВОД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6692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2500" b="1">
                <a:solidFill>
                  <a:srgbClr val="181B1F"/>
                </a:solidFill>
                <a:latin typeface="Aptos"/>
              </a:defRPr>
            </a:pPr>
            <a:r>
              <a:rPr>
                <a:solidFill>
                  <a:srgbClr val="1A1F26"/>
                </a:solidFill>
                <a:latin typeface="Arial"/>
              </a:rPr>
              <a:t>Что даёт часть 2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3807440" cy="10972"/>
          </a:xfrm>
          <a:prstGeom prst="rect">
            <a:avLst/>
          </a:prstGeom>
          <a:solidFill>
            <a:srgbClr val="E4E7EB"/>
          </a:solidFill>
          <a:ln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0" y="7818120"/>
            <a:ext cx="4206240" cy="16004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defRPr sz="800" b="0">
                <a:solidFill>
                  <a:srgbClr val="5C636E"/>
                </a:solidFill>
                <a:latin typeface="Aptos"/>
              </a:defRPr>
            </a:pPr>
            <a:r>
              <a:rPr lang="ru-RU"/>
              <a:t>Анализ землетрясений · Королев Александр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490472"/>
            <a:ext cx="32004" cy="585216"/>
          </a:xfrm>
          <a:prstGeom prst="rect">
            <a:avLst/>
          </a:prstGeom>
          <a:solidFill>
            <a:srgbClr val="245CAC"/>
          </a:solidFill>
          <a:ln>
            <a:solidFill>
              <a:srgbClr val="245C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1417320"/>
            <a:ext cx="8119872" cy="731520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l">
              <a:defRPr sz="2400">
                <a:solidFill>
                  <a:srgbClr val="181B1F"/>
                </a:solidFill>
                <a:latin typeface="Cambria Math"/>
                <a:ea typeface="Cambria Math"/>
                <a:cs typeface="Cambria Math"/>
              </a:defRPr>
            </a:pPr>
            <a:r>
              <a:rPr>
                <a:solidFill>
                  <a:srgbClr val="1A1F26"/>
                </a:solidFill>
                <a:latin typeface="Cambria Math"/>
                <a:ea typeface="Cambria Math"/>
                <a:cs typeface="Cambria Math"/>
              </a:rPr>
              <a:t>R близка к единичной  ⇒  сильной линейной зависимости нет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7498079" cy="170591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800">
                <a:solidFill>
                  <a:srgbClr val="181B1F"/>
                </a:solidFill>
                <a:latin typeface="Aptos"/>
              </a:defRPr>
            </a:pPr>
            <a:r>
              <a:rPr>
                <a:solidFill>
                  <a:srgbClr val="1A1F2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Это не отменяет результата первой части: распределения первой и второй половины</a:t>
            </a:r>
            <a:r>
              <a:rPr>
                <a:solidFill>
                  <a:srgbClr val="1A1F26"/>
                </a:solidFill>
              </a:rPr>
              <a:t> заметно отличаются.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800">
                <a:solidFill>
                  <a:srgbClr val="181B1F"/>
                </a:solidFill>
                <a:latin typeface="Cambria Math"/>
                <a:ea typeface="Cambria Math"/>
                <a:cs typeface="Cambria Math"/>
              </a:defRPr>
            </a:pPr>
            <a:r>
              <a:rPr>
                <a:solidFill>
                  <a:srgbClr val="1A1F26"/>
                </a:solidFill>
                <a:latin typeface="Cambria Math"/>
                <a:ea typeface="Cambria Math"/>
                <a:cs typeface="Cambria Math"/>
              </a:rPr>
              <a:t>Значит, отличие не сводится к простой линейной связи M, D и ΔT.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800">
                <a:solidFill>
                  <a:srgbClr val="181B1F"/>
                </a:solidFill>
                <a:latin typeface="Aptos"/>
              </a:defRPr>
            </a:pPr>
            <a:r>
              <a:rPr>
                <a:solidFill>
                  <a:srgbClr val="1A1F26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Нужно смотреть более тонкую структуру: локальные отклонения от независимости в совместных гистограммах.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1828800"/>
            <a:ext cx="36576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2200" b="1">
                <a:solidFill>
                  <a:srgbClr val="C56421"/>
                </a:solidFill>
                <a:latin typeface="Aptos"/>
              </a:defRPr>
            </a:pPr>
            <a:r>
              <a:rPr>
                <a:solidFill>
                  <a:srgbClr val="1A1F26"/>
                </a:solidFill>
                <a:latin typeface="Arial"/>
              </a:rPr>
              <a:t>Переход к части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89720" y="2377440"/>
            <a:ext cx="4114800" cy="1554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800" b="0">
                <a:solidFill>
                  <a:srgbClr val="181B1F"/>
                </a:solidFill>
                <a:latin typeface="Cambria Math"/>
                <a:ea typeface="Cambria Math"/>
                <a:cs typeface="Cambria Math"/>
              </a:defRPr>
            </a:pPr>
            <a:r>
              <a:rPr>
                <a:solidFill>
                  <a:srgbClr val="1A1F26"/>
                </a:solidFill>
                <a:latin typeface="Cambria Math"/>
                <a:ea typeface="Cambria Math"/>
                <a:cs typeface="Cambria Math"/>
              </a:rPr>
              <a:t>Корреляционная функция K(M,ΔT) показывает, в каких ячейках пара значений встречается чаще или реже, чем при независимости.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53160" y="201168"/>
            <a:ext cx="530352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3657600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900" b="1">
                <a:solidFill>
                  <a:srgbClr val="5C636E"/>
                </a:solidFill>
                <a:latin typeface="Aptos"/>
              </a:defRPr>
            </a:pPr>
            <a:r>
              <a:t>3 / ЛОКАЛЬНАЯ НЕЗАВИСИМОСТЬ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42165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2500" b="1">
                <a:solidFill>
                  <a:srgbClr val="181B1F"/>
                </a:solidFill>
                <a:latin typeface="Cambria Math"/>
                <a:ea typeface="Cambria Math"/>
                <a:cs typeface="Cambria Math"/>
              </a:defRPr>
            </a:pPr>
            <a:r>
              <a:rPr>
                <a:latin typeface="Arial" panose="020B0604020202020204" pitchFamily="34" charset="0"/>
                <a:ea typeface="Cambria Math"/>
                <a:cs typeface="Arial" panose="020B0604020202020204" pitchFamily="34" charset="0"/>
              </a:rPr>
              <a:t>Корреляционная функция </a:t>
            </a:r>
            <a:r>
              <a:rPr>
                <a:latin typeface="Cambria Math"/>
                <a:ea typeface="Cambria Math"/>
                <a:cs typeface="Cambria Math"/>
              </a:rPr>
              <a:t>K(M,ΔT)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3807440" cy="10972"/>
          </a:xfrm>
          <a:prstGeom prst="rect">
            <a:avLst/>
          </a:prstGeom>
          <a:solidFill>
            <a:srgbClr val="E4E7EB"/>
          </a:solidFill>
          <a:ln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0" y="7818120"/>
            <a:ext cx="420624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defRPr sz="800" b="0">
                <a:solidFill>
                  <a:srgbClr val="5C636E"/>
                </a:solidFill>
                <a:latin typeface="Aptos"/>
              </a:defRPr>
            </a:pPr>
            <a:r>
              <a:t>Анализ землетрясений · Королев Александр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444752"/>
            <a:ext cx="32004" cy="630936"/>
          </a:xfrm>
          <a:prstGeom prst="rect">
            <a:avLst/>
          </a:prstGeom>
          <a:solidFill>
            <a:srgbClr val="245CAC"/>
          </a:solidFill>
          <a:ln>
            <a:solidFill>
              <a:srgbClr val="245C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371600"/>
            <a:ext cx="7754112" cy="777240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l">
              <a:defRPr sz="2600">
                <a:solidFill>
                  <a:srgbClr val="181B1F"/>
                </a:solidFill>
                <a:latin typeface="Cambria Math"/>
                <a:ea typeface="Cambria Math"/>
                <a:cs typeface="Cambria Math"/>
              </a:defRPr>
            </a:pPr>
            <a:r>
              <a:rPr>
                <a:latin typeface="Cambria Math"/>
                <a:ea typeface="Cambria Math"/>
                <a:cs typeface="Cambria Math"/>
              </a:rPr>
              <a:t>K(M,ΔT) = f(M,ΔT) − g(M)h(ΔT)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7498079" cy="18288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800">
                <a:solidFill>
                  <a:srgbClr val="181B1F"/>
                </a:solidFill>
                <a:latin typeface="Cambria Math"/>
                <a:ea typeface="Cambria Math"/>
                <a:cs typeface="Cambria Math"/>
              </a:defRPr>
            </a:pPr>
            <a:r>
              <a:rPr>
                <a:latin typeface="Cambria Math"/>
                <a:ea typeface="Cambria Math"/>
                <a:cs typeface="Cambria Math"/>
              </a:rPr>
              <a:t>f(M,ΔT) — совместная нормированная гистограмма.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800">
                <a:solidFill>
                  <a:srgbClr val="181B1F"/>
                </a:solidFill>
                <a:latin typeface="Cambria Math"/>
                <a:ea typeface="Cambria Math"/>
                <a:cs typeface="Cambria Math"/>
              </a:defRPr>
            </a:pPr>
            <a:r>
              <a:rPr>
                <a:latin typeface="Cambria Math"/>
                <a:ea typeface="Cambria Math"/>
                <a:cs typeface="Cambria Math"/>
              </a:rPr>
              <a:t>g(M) и h(ΔT) — одномерные нормированные гистограммы.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800">
                <a:solidFill>
                  <a:srgbClr val="181B1F"/>
                </a:solidFill>
                <a:latin typeface="Cambria Math"/>
                <a:ea typeface="Cambria Math"/>
                <a:cs typeface="Cambria Math"/>
              </a:defRPr>
            </a:pPr>
            <a:r>
              <a:rPr>
                <a:latin typeface="Cambria Math"/>
                <a:ea typeface="Cambria Math"/>
                <a:cs typeface="Cambria Math"/>
              </a:rPr>
              <a:t>Если M и ΔT независимы, то f(M,ΔT)=g(M)h(ΔT), значит K=0.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2039112"/>
            <a:ext cx="32004" cy="859536"/>
          </a:xfrm>
          <a:prstGeom prst="rect">
            <a:avLst/>
          </a:prstGeom>
          <a:solidFill>
            <a:srgbClr val="245CAC"/>
          </a:solidFill>
          <a:ln>
            <a:solidFill>
              <a:srgbClr val="245C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253728" y="1965960"/>
            <a:ext cx="4096511" cy="1005840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l">
              <a:defRPr sz="2100">
                <a:solidFill>
                  <a:srgbClr val="181B1F"/>
                </a:solidFill>
                <a:latin typeface="Cambria Math"/>
              </a:defRPr>
            </a:pPr>
            <a:r>
              <a:t>K&gt;0: чаще, чем при независимости</a:t>
            </a:r>
            <a:br/>
            <a:r>
              <a:t>K&lt;0: реже, чем при независимости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89720" y="3474720"/>
            <a:ext cx="4114800" cy="10972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800" b="0">
                <a:solidFill>
                  <a:srgbClr val="181B1F"/>
                </a:solidFill>
                <a:latin typeface="Aptos"/>
              </a:defRPr>
            </a:pPr>
            <a:r>
              <a:t>В отличие от обычной корреляции, K показывает не один коэффициент, а карту локальных отклонений.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53160" y="201168"/>
            <a:ext cx="530352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3657600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900" b="1">
                <a:solidFill>
                  <a:srgbClr val="5C636E"/>
                </a:solidFill>
                <a:latin typeface="Aptos"/>
              </a:defRPr>
            </a:pPr>
            <a:r>
              <a:t>3 / СЕЧЕНИЕ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6692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2500" b="1">
                <a:solidFill>
                  <a:srgbClr val="181B1F"/>
                </a:solidFill>
                <a:latin typeface="Aptos"/>
              </a:defRPr>
            </a:pPr>
            <a:r>
              <a:t>Выбор самого популярного слоя глубины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3807440" cy="10972"/>
          </a:xfrm>
          <a:prstGeom prst="rect">
            <a:avLst/>
          </a:prstGeom>
          <a:solidFill>
            <a:srgbClr val="E4E7EB"/>
          </a:solidFill>
          <a:ln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0" y="7818120"/>
            <a:ext cx="420624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defRPr sz="800" b="0">
                <a:solidFill>
                  <a:srgbClr val="5C636E"/>
                </a:solidFill>
                <a:latin typeface="Aptos"/>
              </a:defRPr>
            </a:pPr>
            <a:r>
              <a:t>Анализ землетрясений · Королев Александр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536192"/>
            <a:ext cx="32004" cy="996696"/>
          </a:xfrm>
          <a:prstGeom prst="rect">
            <a:avLst/>
          </a:prstGeom>
          <a:solidFill>
            <a:srgbClr val="2D805A"/>
          </a:solidFill>
          <a:ln>
            <a:solidFill>
              <a:srgbClr val="2D8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42416" y="1463040"/>
            <a:ext cx="2615184" cy="11430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defRPr sz="2400" b="1">
                <a:solidFill>
                  <a:srgbClr val="2D805A"/>
                </a:solidFill>
                <a:latin typeface="Aptos Display"/>
              </a:defRPr>
            </a:pPr>
            <a:r>
              <a:t>10–15 км</a:t>
            </a:r>
          </a:p>
          <a:p>
            <a:pPr algn="l">
              <a:defRPr sz="1050">
                <a:solidFill>
                  <a:srgbClr val="5C636E"/>
                </a:solidFill>
                <a:latin typeface="Aptos"/>
              </a:defRPr>
            </a:pPr>
            <a:r>
              <a:t>самый частый слой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3360" y="1536192"/>
            <a:ext cx="32004" cy="996696"/>
          </a:xfrm>
          <a:prstGeom prst="rect">
            <a:avLst/>
          </a:prstGeom>
          <a:solidFill>
            <a:srgbClr val="245CAC"/>
          </a:solidFill>
          <a:ln>
            <a:solidFill>
              <a:srgbClr val="245C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51376" y="1463040"/>
            <a:ext cx="2615184" cy="11430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defRPr sz="2400" b="1">
                <a:solidFill>
                  <a:srgbClr val="245CAC"/>
                </a:solidFill>
                <a:latin typeface="Aptos Display"/>
              </a:defRPr>
            </a:pPr>
            <a:r>
              <a:t>19 647</a:t>
            </a:r>
          </a:p>
          <a:p>
            <a:pPr algn="l">
              <a:defRPr sz="1050">
                <a:solidFill>
                  <a:srgbClr val="5C636E"/>
                </a:solidFill>
                <a:latin typeface="Aptos"/>
              </a:defRPr>
            </a:pPr>
            <a:r>
              <a:t>событий в слое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0" y="1536192"/>
            <a:ext cx="32004" cy="996696"/>
          </a:xfrm>
          <a:prstGeom prst="rect">
            <a:avLst/>
          </a:prstGeom>
          <a:solidFill>
            <a:srgbClr val="C56421"/>
          </a:solidFill>
          <a:ln>
            <a:solidFill>
              <a:srgbClr val="C564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60336" y="1463040"/>
            <a:ext cx="2615184" cy="11430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defRPr sz="2400" b="1">
                <a:solidFill>
                  <a:srgbClr val="C56421"/>
                </a:solidFill>
                <a:latin typeface="Aptos Display"/>
              </a:defRPr>
            </a:pPr>
            <a:r>
              <a:t>34.6%</a:t>
            </a:r>
          </a:p>
          <a:p>
            <a:pPr algn="l">
              <a:defRPr sz="1050">
                <a:solidFill>
                  <a:srgbClr val="5C636E"/>
                </a:solidFill>
                <a:latin typeface="Aptos"/>
              </a:defRPr>
            </a:pPr>
            <a:r>
              <a:t>доля всех событий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241280" y="1536192"/>
            <a:ext cx="32004" cy="996696"/>
          </a:xfrm>
          <a:prstGeom prst="rect">
            <a:avLst/>
          </a:prstGeom>
          <a:solidFill>
            <a:srgbClr val="2D805A"/>
          </a:solidFill>
          <a:ln>
            <a:solidFill>
              <a:srgbClr val="2D8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369296" y="1463040"/>
            <a:ext cx="2615184" cy="11430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defRPr sz="2400" b="1">
                <a:solidFill>
                  <a:srgbClr val="2D805A"/>
                </a:solidFill>
                <a:latin typeface="Aptos Display"/>
              </a:defRPr>
            </a:pPr>
            <a:r>
              <a:t>5 км</a:t>
            </a:r>
          </a:p>
          <a:p>
            <a:pPr algn="l">
              <a:defRPr sz="1050">
                <a:solidFill>
                  <a:srgbClr val="5C636E"/>
                </a:solidFill>
                <a:latin typeface="Aptos"/>
              </a:defRPr>
            </a:pPr>
            <a:r>
              <a:t>шаг по глубине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246120"/>
            <a:ext cx="12344400" cy="21031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800">
                <a:solidFill>
                  <a:srgbClr val="181B1F"/>
                </a:solidFill>
                <a:latin typeface="Aptos"/>
              </a:defRPr>
            </a:pPr>
            <a:r>
              <a:t>Задача требует построить K не только по всему набору, но и в наиболее популярном сечении по глубине.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800">
                <a:solidFill>
                  <a:srgbClr val="181B1F"/>
                </a:solidFill>
                <a:latin typeface="Aptos"/>
              </a:defRPr>
            </a:pPr>
            <a:r>
              <a:t>Такой слой достаточно большой, чтобы строить устойчивые гистограммы.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800">
                <a:solidFill>
                  <a:srgbClr val="181B1F"/>
                </a:solidFill>
                <a:latin typeface="Cambria Math"/>
                <a:ea typeface="Cambria Math"/>
                <a:cs typeface="Cambria Math"/>
              </a:defRPr>
            </a:pPr>
            <a:r>
              <a:rPr>
                <a:latin typeface="Cambria Math"/>
                <a:ea typeface="Cambria Math"/>
                <a:cs typeface="Cambria Math"/>
              </a:rPr>
              <a:t>Сравнение слоя и всего датасета позволяет понять, появляется ли зависимость M–ΔT из-за смешивания разных глубин.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53160" y="201168"/>
            <a:ext cx="530352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3657600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900" b="1">
                <a:solidFill>
                  <a:srgbClr val="5C636E"/>
                </a:solidFill>
                <a:latin typeface="Aptos"/>
              </a:defRPr>
            </a:pPr>
            <a:r>
              <a:t>3 / СЕЧЕНИЕ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6692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2500" b="1">
                <a:solidFill>
                  <a:srgbClr val="181B1F"/>
                </a:solidFill>
                <a:latin typeface="Cambria Math"/>
                <a:ea typeface="Cambria Math"/>
                <a:cs typeface="Cambria Math"/>
              </a:defRPr>
            </a:pPr>
            <a:r>
              <a:rPr>
                <a:latin typeface="Cambria Math"/>
                <a:ea typeface="Cambria Math"/>
                <a:cs typeface="Cambria Math"/>
              </a:rPr>
              <a:t>Плотности g(M) и h(ΔT) в слое глубины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3807440" cy="10972"/>
          </a:xfrm>
          <a:prstGeom prst="rect">
            <a:avLst/>
          </a:prstGeom>
          <a:solidFill>
            <a:srgbClr val="E4E7EB"/>
          </a:solidFill>
          <a:ln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0" y="7818120"/>
            <a:ext cx="420624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defRPr sz="800" b="0">
                <a:solidFill>
                  <a:srgbClr val="5C636E"/>
                </a:solidFill>
                <a:latin typeface="Aptos"/>
              </a:defRPr>
            </a:pPr>
            <a:r>
              <a:t>Анализ землетрясений · Королев Александр</a:t>
            </a:r>
          </a:p>
        </p:txBody>
      </p:sp>
      <p:pic>
        <p:nvPicPr>
          <p:cNvPr id="7" name="Picture 6" descr="layer_densit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944" y="1188720"/>
            <a:ext cx="12273630" cy="4846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51560" y="6263640"/>
            <a:ext cx="12252960" cy="6858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700" b="0">
                <a:solidFill>
                  <a:srgbClr val="181B1F"/>
                </a:solidFill>
                <a:latin typeface="Cambria Math"/>
                <a:ea typeface="Cambria Math"/>
                <a:cs typeface="Cambria Math"/>
              </a:defRPr>
            </a:pPr>
            <a:r>
              <a:rPr>
                <a:latin typeface="Cambria Math"/>
                <a:ea typeface="Cambria Math"/>
                <a:cs typeface="Cambria Math"/>
              </a:rPr>
              <a:t>Эти плотности образуют модель независимости g(M)h(ΔT). Затем она сравнивается с реальной совместной плотностью f(M,ΔT).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53160" y="201168"/>
            <a:ext cx="530352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3657600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900" b="1">
                <a:solidFill>
                  <a:srgbClr val="5C636E"/>
                </a:solidFill>
                <a:latin typeface="Aptos"/>
              </a:defRPr>
            </a:pPr>
            <a:r>
              <a:t>3 / СЕЧЕНИЕ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6692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2500" b="1">
                <a:solidFill>
                  <a:srgbClr val="181B1F"/>
                </a:solidFill>
                <a:latin typeface="Aptos"/>
              </a:defRPr>
            </a:pPr>
            <a:r>
              <a:t>Совместная плотность и K в слое глубины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3807440" cy="10972"/>
          </a:xfrm>
          <a:prstGeom prst="rect">
            <a:avLst/>
          </a:prstGeom>
          <a:solidFill>
            <a:srgbClr val="E4E7EB"/>
          </a:solidFill>
          <a:ln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0" y="7818120"/>
            <a:ext cx="420624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defRPr sz="800" b="0">
                <a:solidFill>
                  <a:srgbClr val="5C636E"/>
                </a:solidFill>
                <a:latin typeface="Aptos"/>
              </a:defRPr>
            </a:pPr>
            <a:r>
              <a:t>Анализ землетрясений · Королев Александр</a:t>
            </a:r>
          </a:p>
        </p:txBody>
      </p:sp>
      <p:pic>
        <p:nvPicPr>
          <p:cNvPr id="7" name="Picture 6" descr="layer_joint_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185766"/>
            <a:ext cx="13075920" cy="508082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05840" y="6446520"/>
            <a:ext cx="1243584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700" b="0">
                <a:solidFill>
                  <a:srgbClr val="181B1F"/>
                </a:solidFill>
                <a:latin typeface="Cambria Math"/>
                <a:ea typeface="Cambria Math"/>
                <a:cs typeface="Cambria Math"/>
              </a:defRPr>
            </a:pPr>
            <a:r>
              <a:rPr>
                <a:latin typeface="Cambria Math"/>
                <a:ea typeface="Cambria Math"/>
                <a:cs typeface="Cambria Math"/>
              </a:rPr>
              <a:t>Максимальное локальное отклонение в слое: M=4.5–5.0, ΔT=0–5000 c;  max|K|≈0.00879.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53160" y="201168"/>
            <a:ext cx="530352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3657600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900" b="1">
                <a:solidFill>
                  <a:srgbClr val="5C636E"/>
                </a:solidFill>
                <a:latin typeface="Aptos"/>
              </a:defRPr>
            </a:pPr>
            <a:r>
              <a:t>3 / ВЕСЬ НАБОР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6692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2500" b="1">
                <a:solidFill>
                  <a:srgbClr val="181B1F"/>
                </a:solidFill>
                <a:latin typeface="Cambria Math"/>
                <a:ea typeface="Cambria Math"/>
                <a:cs typeface="Cambria Math"/>
              </a:defRPr>
            </a:pPr>
            <a:r>
              <a:rPr>
                <a:latin typeface="Cambria Math"/>
                <a:ea typeface="Cambria Math"/>
                <a:cs typeface="Cambria Math"/>
              </a:rPr>
              <a:t>Плотности g(M) и h(ΔT) по всему датасету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3807440" cy="10972"/>
          </a:xfrm>
          <a:prstGeom prst="rect">
            <a:avLst/>
          </a:prstGeom>
          <a:solidFill>
            <a:srgbClr val="E4E7EB"/>
          </a:solidFill>
          <a:ln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0" y="7818120"/>
            <a:ext cx="420624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defRPr sz="800" b="0">
                <a:solidFill>
                  <a:srgbClr val="5C636E"/>
                </a:solidFill>
                <a:latin typeface="Aptos"/>
              </a:defRPr>
            </a:pPr>
            <a:r>
              <a:t>Анализ землетрясений · Королев Александр</a:t>
            </a:r>
          </a:p>
        </p:txBody>
      </p:sp>
      <p:pic>
        <p:nvPicPr>
          <p:cNvPr id="7" name="Picture 6" descr="full_densit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944" y="1188720"/>
            <a:ext cx="12273630" cy="4846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51560" y="6263640"/>
            <a:ext cx="12252960" cy="6858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700" b="0">
                <a:solidFill>
                  <a:srgbClr val="181B1F"/>
                </a:solidFill>
                <a:latin typeface="Cambria Math"/>
                <a:ea typeface="Cambria Math"/>
                <a:cs typeface="Cambria Math"/>
              </a:defRPr>
            </a:pPr>
            <a:r>
              <a:rPr>
                <a:latin typeface="Cambria Math"/>
                <a:ea typeface="Cambria Math"/>
                <a:cs typeface="Cambria Math"/>
              </a:rPr>
              <a:t>Здесь глубина не фиксируется: в распределения M и ΔT смешиваются события из разных слоёв глубины.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53160" y="201168"/>
            <a:ext cx="530352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3657600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900" b="1">
                <a:solidFill>
                  <a:srgbClr val="5C636E"/>
                </a:solidFill>
                <a:latin typeface="Aptos"/>
              </a:defRPr>
            </a:pPr>
            <a:r>
              <a:t>3 / ВЕСЬ НАБОР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6692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2500" b="1">
                <a:solidFill>
                  <a:srgbClr val="181B1F"/>
                </a:solidFill>
                <a:latin typeface="Aptos"/>
              </a:defRPr>
            </a:pPr>
            <a:r>
              <a:t>Совместная плотность и K по всему датасету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3807440" cy="10972"/>
          </a:xfrm>
          <a:prstGeom prst="rect">
            <a:avLst/>
          </a:prstGeom>
          <a:solidFill>
            <a:srgbClr val="E4E7EB"/>
          </a:solidFill>
          <a:ln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0" y="7818120"/>
            <a:ext cx="420624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defRPr sz="800" b="0">
                <a:solidFill>
                  <a:srgbClr val="5C636E"/>
                </a:solidFill>
                <a:latin typeface="Aptos"/>
              </a:defRPr>
            </a:pPr>
            <a:r>
              <a:t>Анализ землетрясений · Королев Александр</a:t>
            </a:r>
          </a:p>
        </p:txBody>
      </p:sp>
      <p:pic>
        <p:nvPicPr>
          <p:cNvPr id="7" name="Picture 6" descr="full_joint_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889" y="1728216"/>
            <a:ext cx="9216357" cy="356463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646920" y="1307592"/>
            <a:ext cx="32004" cy="768096"/>
          </a:xfrm>
          <a:prstGeom prst="rect">
            <a:avLst/>
          </a:prstGeom>
          <a:solidFill>
            <a:srgbClr val="245CAC"/>
          </a:solidFill>
          <a:ln>
            <a:solidFill>
              <a:srgbClr val="245C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74936" y="1234440"/>
            <a:ext cx="2889503" cy="9144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defRPr sz="2400" b="1">
                <a:solidFill>
                  <a:srgbClr val="245CAC"/>
                </a:solidFill>
                <a:latin typeface="Aptos Display"/>
              </a:defRPr>
            </a:pPr>
            <a:r>
              <a:t>0.01161</a:t>
            </a:r>
          </a:p>
          <a:p>
            <a:pPr algn="l">
              <a:defRPr sz="1050">
                <a:solidFill>
                  <a:srgbClr val="5C636E"/>
                </a:solidFill>
                <a:latin typeface="Cambria Math"/>
                <a:ea typeface="Cambria Math"/>
                <a:cs typeface="Cambria Math"/>
              </a:defRPr>
            </a:pPr>
            <a:r>
              <a:rPr>
                <a:latin typeface="Cambria Math"/>
                <a:ea typeface="Cambria Math"/>
                <a:cs typeface="Cambria Math"/>
              </a:rPr>
              <a:t>max |K| по всему датасету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46920" y="2496312"/>
            <a:ext cx="32004" cy="905255"/>
          </a:xfrm>
          <a:prstGeom prst="rect">
            <a:avLst/>
          </a:prstGeom>
          <a:solidFill>
            <a:srgbClr val="C56421"/>
          </a:solidFill>
          <a:ln>
            <a:solidFill>
              <a:srgbClr val="C564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774936" y="2423160"/>
            <a:ext cx="2889503" cy="105156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defRPr sz="2400" b="1">
                <a:solidFill>
                  <a:srgbClr val="C56421"/>
                </a:solidFill>
                <a:latin typeface="Aptos Display"/>
              </a:defRPr>
            </a:pPr>
            <a:r>
              <a:t>4126 vs 3466</a:t>
            </a:r>
          </a:p>
          <a:p>
            <a:pPr algn="l">
              <a:defRPr sz="1050">
                <a:solidFill>
                  <a:srgbClr val="5C636E"/>
                </a:solidFill>
                <a:latin typeface="Cambria Math"/>
                <a:ea typeface="Cambria Math"/>
                <a:cs typeface="Cambria Math"/>
              </a:defRPr>
            </a:pPr>
            <a:r>
              <a:rPr>
                <a:latin typeface="Cambria Math"/>
                <a:ea typeface="Cambria Math"/>
                <a:cs typeface="Cambria Math"/>
              </a:rPr>
              <a:t>наблюдаемо vs ожидание в max-ячейке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46920" y="3822191"/>
            <a:ext cx="32004" cy="768096"/>
          </a:xfrm>
          <a:prstGeom prst="rect">
            <a:avLst/>
          </a:prstGeom>
          <a:solidFill>
            <a:srgbClr val="B03D3D"/>
          </a:solidFill>
          <a:ln>
            <a:solidFill>
              <a:srgbClr val="B03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774936" y="3749039"/>
            <a:ext cx="2889503" cy="91440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defRPr sz="2400" b="1">
                <a:solidFill>
                  <a:srgbClr val="B03D3D"/>
                </a:solidFill>
                <a:latin typeface="Aptos Display"/>
              </a:defRPr>
            </a:pPr>
            <a:r>
              <a:t>11.2</a:t>
            </a:r>
          </a:p>
          <a:p>
            <a:pPr algn="l">
              <a:defRPr sz="1050">
                <a:solidFill>
                  <a:srgbClr val="5C636E"/>
                </a:solidFill>
                <a:latin typeface="Aptos"/>
              </a:defRPr>
            </a:pPr>
            <a:r>
              <a:t>стандартизованный остаток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55480" y="4983480"/>
            <a:ext cx="4389120" cy="196117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181B1F"/>
                </a:solidFill>
                <a:latin typeface="Cambria Math"/>
                <a:ea typeface="Cambria Math"/>
                <a:cs typeface="Cambria Math"/>
              </a:defRPr>
            </a:pPr>
            <a:r>
              <a:rPr>
                <a:latin typeface="Cambria Math"/>
                <a:ea typeface="Cambria Math"/>
                <a:cs typeface="Cambria Math"/>
              </a:rPr>
              <a:t>Максимум снова в ячейке M=4.5–5.0, ΔT=0–5000 c.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181B1F"/>
                </a:solidFill>
                <a:latin typeface="Cambria Math"/>
                <a:ea typeface="Cambria Math"/>
                <a:cs typeface="Cambria Math"/>
              </a:defRPr>
            </a:pPr>
            <a:r>
              <a:rPr>
                <a:latin typeface="Cambria Math"/>
                <a:ea typeface="Cambria Math"/>
                <a:cs typeface="Cambria Math"/>
              </a:rPr>
              <a:t>В этой ячейке событий заметно больше, чем давала бы модель независимости g(M)h(ΔT).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181B1F"/>
                </a:solidFill>
                <a:latin typeface="Aptos"/>
              </a:defRPr>
            </a:pPr>
            <a:r>
              <a:t>Это не полноценный p-value: много ячеек и много малых ожиданий. Корректнее воспринимать остаток как диагностический показатель;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53160" y="201168"/>
            <a:ext cx="530352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3657600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900" b="1">
                <a:solidFill>
                  <a:srgbClr val="5C636E"/>
                </a:solidFill>
                <a:latin typeface="Aptos"/>
              </a:defRPr>
            </a:pPr>
            <a:r>
              <a:t>3 / СМЫСЛ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6692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2500" b="1">
                <a:solidFill>
                  <a:srgbClr val="181B1F"/>
                </a:solidFill>
                <a:latin typeface="Cambria Math"/>
                <a:ea typeface="Cambria Math"/>
                <a:cs typeface="Cambria Math"/>
              </a:defRPr>
            </a:pPr>
            <a:r>
              <a:rPr>
                <a:latin typeface="Cambria Math"/>
                <a:ea typeface="Cambria Math"/>
                <a:cs typeface="Cambria Math"/>
              </a:rPr>
              <a:t>Как интерпретировать K и форму распределения ΔT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3807440" cy="10972"/>
          </a:xfrm>
          <a:prstGeom prst="rect">
            <a:avLst/>
          </a:prstGeom>
          <a:solidFill>
            <a:srgbClr val="E4E7EB"/>
          </a:solidFill>
          <a:ln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0" y="7818120"/>
            <a:ext cx="420624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defRPr sz="800" b="0">
                <a:solidFill>
                  <a:srgbClr val="5C636E"/>
                </a:solidFill>
                <a:latin typeface="Aptos"/>
              </a:defRPr>
            </a:pPr>
            <a:r>
              <a:t>Анализ землетрясений · Королев Александр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307592"/>
            <a:ext cx="32004" cy="539496"/>
          </a:xfrm>
          <a:prstGeom prst="rect">
            <a:avLst/>
          </a:prstGeom>
          <a:solidFill>
            <a:srgbClr val="245CAC"/>
          </a:solidFill>
          <a:ln>
            <a:solidFill>
              <a:srgbClr val="245C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234440"/>
            <a:ext cx="7114032" cy="685800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l">
              <a:defRPr sz="2400">
                <a:solidFill>
                  <a:srgbClr val="181B1F"/>
                </a:solidFill>
                <a:latin typeface="Cambria Math"/>
                <a:ea typeface="Cambria Math"/>
                <a:cs typeface="Cambria Math"/>
              </a:defRPr>
            </a:pPr>
            <a:r>
              <a:rPr>
                <a:latin typeface="Cambria Math"/>
                <a:ea typeface="Cambria Math"/>
                <a:cs typeface="Cambria Math"/>
              </a:rPr>
              <a:t>P(M,ΔT) = Σ_D P(D) · P(M,ΔT | 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7658965" cy="191174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81B1F"/>
                </a:solidFill>
                <a:latin typeface="Cambria Math"/>
                <a:ea typeface="Cambria Math"/>
                <a:cs typeface="Cambria Math"/>
              </a:defRPr>
            </a:pPr>
            <a:r>
              <a:rPr sz="1700">
                <a:latin typeface="Cambria Math"/>
                <a:ea typeface="Cambria Math"/>
                <a:cs typeface="Cambria Math"/>
              </a:rPr>
              <a:t>Полный датасет — смесь событий с разных глубин. Поэтому часть зависимости M–ΔT может появляться из-за скрытой переменной D.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81B1F"/>
                </a:solidFill>
                <a:latin typeface="Cambria Math"/>
                <a:ea typeface="Cambria Math"/>
                <a:cs typeface="Cambria Math"/>
              </a:defRPr>
            </a:pPr>
            <a:r>
              <a:rPr sz="1700">
                <a:latin typeface="Cambria Math"/>
                <a:ea typeface="Cambria Math"/>
                <a:cs typeface="Cambria Math"/>
              </a:rPr>
              <a:t>max|K| в слое глубины: 0.00879; по всему датасету: 0.01161. Отклонение на полном наборе немного больше.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181B1F"/>
                </a:solidFill>
                <a:latin typeface="Aptos"/>
              </a:defRPr>
            </a:pPr>
            <a:r>
              <a:rPr sz="1700">
                <a:latin typeface="Cambria Math" panose="02040503050406030204" pitchFamily="18" charset="0"/>
                <a:ea typeface="Cambria Math" panose="02040503050406030204" pitchFamily="18" charset="0"/>
              </a:rPr>
              <a:t>Это согласуется с частью 1: глубина заметно менялась между первой и второй половиной данных.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23960" y="1307592"/>
            <a:ext cx="32004" cy="676656"/>
          </a:xfrm>
          <a:prstGeom prst="rect">
            <a:avLst/>
          </a:prstGeom>
          <a:solidFill>
            <a:srgbClr val="245CAC"/>
          </a:solidFill>
          <a:ln>
            <a:solidFill>
              <a:srgbClr val="245C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33688" y="1234440"/>
            <a:ext cx="4782312" cy="822960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l">
              <a:defRPr sz="1900">
                <a:solidFill>
                  <a:srgbClr val="181B1F"/>
                </a:solidFill>
                <a:latin typeface="Cambria Math"/>
                <a:ea typeface="Cambria Math"/>
                <a:cs typeface="Cambria Math"/>
              </a:defRPr>
            </a:pPr>
            <a:r>
              <a:rPr>
                <a:latin typeface="Cambria Math"/>
                <a:ea typeface="Cambria Math"/>
                <a:cs typeface="Cambria Math"/>
              </a:rPr>
              <a:t>если события идут как пуассоновский поток, то  P(ΔT≤t)=1−exp(−λt)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5400" y="2514600"/>
            <a:ext cx="4572000" cy="2468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181B1F"/>
                </a:solidFill>
                <a:latin typeface="Cambria Math"/>
                <a:ea typeface="Cambria Math"/>
                <a:cs typeface="Cambria Math"/>
              </a:defRPr>
            </a:pPr>
            <a:r>
              <a:rPr>
                <a:latin typeface="Cambria Math"/>
                <a:ea typeface="Cambria Math"/>
                <a:cs typeface="Cambria Math"/>
              </a:rPr>
              <a:t>Для экспоненциального ожидания медиана должна быть mean·ln2. В полном массиве: median ΔT=13841 c, mean·ln2≈17321 c.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181B1F"/>
                </a:solidFill>
                <a:latin typeface="Aptos"/>
              </a:defRPr>
            </a:pPr>
            <a:r>
              <a:t>Похожесть на экспоненту естественна для почти независимых моментов событий, но каталог не является идеально пуассоновским.</a:t>
            </a:r>
          </a:p>
          <a:p>
            <a:pPr>
              <a:lnSpc>
                <a:spcPct val="105000"/>
              </a:lnSpc>
              <a:spcAft>
                <a:spcPts val="700"/>
              </a:spcAft>
              <a:defRPr sz="1500">
                <a:solidFill>
                  <a:srgbClr val="181B1F"/>
                </a:solidFill>
                <a:latin typeface="Aptos"/>
              </a:defRPr>
            </a:pPr>
            <a:r>
              <a:t>Отличия между половинами и зависимость от глубины показывают неоднородность процесса и/или неоднородность регистрации.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74519" y="5971032"/>
            <a:ext cx="32004" cy="585216"/>
          </a:xfrm>
          <a:prstGeom prst="rect">
            <a:avLst/>
          </a:prstGeom>
          <a:solidFill>
            <a:srgbClr val="245CAC"/>
          </a:solidFill>
          <a:ln>
            <a:solidFill>
              <a:srgbClr val="245C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984248" y="5897880"/>
            <a:ext cx="10680192" cy="731520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l">
              <a:defRPr sz="2200">
                <a:solidFill>
                  <a:srgbClr val="181B1F"/>
                </a:solidFill>
                <a:latin typeface="Cambria Math"/>
              </a:defRPr>
            </a:pPr>
            <a:r>
              <a:t>вывод: K ловит локальную зависимость, а F показывает нестационарность всего распределения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53160" y="201168"/>
            <a:ext cx="530352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3657600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900" b="1">
                <a:solidFill>
                  <a:srgbClr val="5C636E"/>
                </a:solidFill>
                <a:latin typeface="Aptos"/>
              </a:defRPr>
            </a:pPr>
            <a:r>
              <a:t>ВЫВОДЫ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10972800" cy="56692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2500" b="1">
                <a:solidFill>
                  <a:srgbClr val="181B1F"/>
                </a:solidFill>
                <a:latin typeface="Aptos"/>
              </a:defRPr>
            </a:pPr>
            <a:r>
              <a:t>Итоговая картина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3807440" cy="10972"/>
          </a:xfrm>
          <a:prstGeom prst="rect">
            <a:avLst/>
          </a:prstGeom>
          <a:solidFill>
            <a:srgbClr val="E4E7EB"/>
          </a:solidFill>
          <a:ln>
            <a:solidFill>
              <a:srgbClr val="E4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0" y="7818120"/>
            <a:ext cx="420624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>
              <a:defRPr sz="800" b="0">
                <a:solidFill>
                  <a:srgbClr val="5C636E"/>
                </a:solidFill>
                <a:latin typeface="Aptos"/>
              </a:defRPr>
            </a:pPr>
            <a:r>
              <a:t>Анализ землетрясений · Королев Александр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490472"/>
            <a:ext cx="32004" cy="859536"/>
          </a:xfrm>
          <a:prstGeom prst="rect">
            <a:avLst/>
          </a:prstGeom>
          <a:solidFill>
            <a:srgbClr val="245CAC"/>
          </a:solidFill>
          <a:ln>
            <a:solidFill>
              <a:srgbClr val="245C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96695" y="1417320"/>
            <a:ext cx="877824" cy="100584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defRPr sz="2400" b="1">
                <a:solidFill>
                  <a:srgbClr val="245CAC"/>
                </a:solidFill>
                <a:latin typeface="Aptos Display"/>
              </a:defRPr>
            </a:pPr>
            <a:r>
              <a:t>1</a:t>
            </a:r>
          </a:p>
          <a:p>
            <a:pPr algn="l">
              <a:defRPr sz="1050">
                <a:solidFill>
                  <a:srgbClr val="5C636E"/>
                </a:solidFill>
                <a:latin typeface="Aptos"/>
              </a:defRPr>
            </a:pPr>
            <a:r>
              <a:t>Распределение нестационарно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1508760"/>
            <a:ext cx="10515600" cy="5943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2000" b="0">
                <a:solidFill>
                  <a:srgbClr val="181B1F"/>
                </a:solidFill>
                <a:latin typeface="Cambria Math"/>
                <a:ea typeface="Cambria Math"/>
                <a:cs typeface="Cambria Math"/>
              </a:defRPr>
            </a:pPr>
            <a:r>
              <a:rPr>
                <a:latin typeface="Cambria Math"/>
                <a:ea typeface="Cambria Math"/>
                <a:cs typeface="Cambria Math"/>
              </a:rPr>
              <a:t>Во второй половине больше неглубоких событий с малым ΔT; C-норма ≈0.343.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2816352"/>
            <a:ext cx="32004" cy="859536"/>
          </a:xfrm>
          <a:prstGeom prst="rect">
            <a:avLst/>
          </a:prstGeom>
          <a:solidFill>
            <a:srgbClr val="2D805A"/>
          </a:solidFill>
          <a:ln>
            <a:solidFill>
              <a:srgbClr val="2D8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96695" y="2743200"/>
            <a:ext cx="877824" cy="100584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defRPr sz="2400" b="1">
                <a:solidFill>
                  <a:srgbClr val="2D805A"/>
                </a:solidFill>
                <a:latin typeface="Aptos Display"/>
              </a:defRPr>
            </a:pPr>
            <a:r>
              <a:t>2</a:t>
            </a:r>
          </a:p>
          <a:p>
            <a:pPr algn="l">
              <a:defRPr sz="1050">
                <a:solidFill>
                  <a:srgbClr val="5C636E"/>
                </a:solidFill>
                <a:latin typeface="Aptos"/>
              </a:defRPr>
            </a:pPr>
            <a:r>
              <a:t>Линейные корреляции слабые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2834640"/>
            <a:ext cx="10515600" cy="5943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2000" b="0">
                <a:solidFill>
                  <a:srgbClr val="181B1F"/>
                </a:solidFill>
                <a:latin typeface="Aptos"/>
              </a:defRPr>
            </a:pPr>
            <a:r>
              <a:t>R близка к единичной; собственные значения близки к 1; доминирующего линейного направления нет.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4142232"/>
            <a:ext cx="32004" cy="859536"/>
          </a:xfrm>
          <a:prstGeom prst="rect">
            <a:avLst/>
          </a:prstGeom>
          <a:solidFill>
            <a:srgbClr val="C56421"/>
          </a:solidFill>
          <a:ln>
            <a:solidFill>
              <a:srgbClr val="C564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96695" y="4069080"/>
            <a:ext cx="877824" cy="1005840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defRPr sz="2400" b="1">
                <a:solidFill>
                  <a:srgbClr val="C56421"/>
                </a:solidFill>
                <a:latin typeface="Aptos Display"/>
              </a:defRPr>
            </a:pPr>
            <a:r>
              <a:t>3</a:t>
            </a:r>
          </a:p>
          <a:p>
            <a:pPr algn="l">
              <a:defRPr sz="1050">
                <a:solidFill>
                  <a:srgbClr val="5C636E"/>
                </a:solidFill>
                <a:latin typeface="Aptos"/>
              </a:defRPr>
            </a:pPr>
            <a:r>
              <a:t>K показывает локальные эффекты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4160520"/>
            <a:ext cx="10515600" cy="5943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2000" b="0">
                <a:solidFill>
                  <a:srgbClr val="181B1F"/>
                </a:solidFill>
                <a:latin typeface="Aptos"/>
              </a:defRPr>
            </a:pPr>
            <a:r>
              <a:t>Отклонение K от нуля есть, но часть эффекта может возникать из-за смешивания разных глубин.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51560" y="5696712"/>
            <a:ext cx="32004" cy="585216"/>
          </a:xfrm>
          <a:prstGeom prst="rect">
            <a:avLst/>
          </a:prstGeom>
          <a:solidFill>
            <a:srgbClr val="245CAC"/>
          </a:solidFill>
          <a:ln>
            <a:solidFill>
              <a:srgbClr val="245C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61288" y="5623560"/>
            <a:ext cx="12234672" cy="731520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l">
              <a:defRPr sz="2300">
                <a:solidFill>
                  <a:srgbClr val="181B1F"/>
                </a:solidFill>
                <a:latin typeface="Cambria Math"/>
              </a:defRPr>
            </a:pPr>
            <a:r>
              <a:t>главный результат: различия распределений заметнее, чем простые линейные корреляции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6629400"/>
            <a:ext cx="1216152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700" b="0">
                <a:solidFill>
                  <a:srgbClr val="5C636E"/>
                </a:solidFill>
                <a:latin typeface="Aptos"/>
              </a:defRPr>
            </a:pPr>
            <a:r>
              <a:t>Дальше можно проверить устойчивость по шагам сетки, сравнить равные интервалы времени и построить K для нескольких слоёв глубины.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53160" y="201168"/>
            <a:ext cx="530352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t>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2473</Words>
  <Application>Microsoft Macintosh PowerPoint</Application>
  <PresentationFormat>Произвольный</PresentationFormat>
  <Paragraphs>272</Paragraphs>
  <Slides>25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31" baseType="lpstr">
      <vt:lpstr>Aptos</vt:lpstr>
      <vt:lpstr>Aptos Display</vt:lpstr>
      <vt:lpstr>Arial</vt:lpstr>
      <vt:lpstr>Calibri</vt:lpstr>
      <vt:lpstr>Cambria Math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Александр Королев</cp:lastModifiedBy>
  <cp:revision>2</cp:revision>
  <dcterms:created xsi:type="dcterms:W3CDTF">2013-01-27T09:14:16Z</dcterms:created>
  <dcterms:modified xsi:type="dcterms:W3CDTF">2026-05-10T23:04:41Z</dcterms:modified>
  <cp:category/>
</cp:coreProperties>
</file>